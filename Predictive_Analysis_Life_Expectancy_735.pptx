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1" r:id="rId6"/>
    <p:sldId id="262" r:id="rId7"/>
    <p:sldId id="263" r:id="rId8"/>
    <p:sldId id="264" r:id="rId9"/>
    <p:sldId id="266" r:id="rId10"/>
    <p:sldId id="267" r:id="rId11"/>
    <p:sldId id="269" r:id="rId12"/>
    <p:sldId id="270" r:id="rId13"/>
    <p:sldId id="273" r:id="rId14"/>
    <p:sldId id="276" r:id="rId15"/>
    <p:sldId id="277" r:id="rId16"/>
    <p:sldId id="279" r:id="rId17"/>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9F8F5"/>
        </a:solidFill>
        <a:effectLst/>
      </p:bgPr>
    </p:bg>
    <p:spTree>
      <p:nvGrpSpPr>
        <p:cNvPr id="1" name=""/>
        <p:cNvGrpSpPr/>
        <p:nvPr/>
      </p:nvGrpSpPr>
      <p:grpSpPr>
        <a:xfrm>
          <a:off x="0" y="0"/>
          <a:ext cx="0" cy="0"/>
          <a:chOff x="0" y="0"/>
          <a:chExt cx="0" cy="0"/>
        </a:xfrm>
      </p:grpSpPr>
      <p:sp>
        <p:nvSpPr>
          <p:cNvPr id="2" name="Rectangle 1"/>
          <p:cNvSpPr/>
          <p:nvPr/>
        </p:nvSpPr>
        <p:spPr>
          <a:xfrm>
            <a:off x="0" y="0"/>
            <a:ext cx="5120640" cy="6858000"/>
          </a:xfrm>
          <a:prstGeom prst="rect">
            <a:avLst/>
          </a:prstGeom>
          <a:solidFill>
            <a:srgbClr val="1C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0"/>
            <a:ext cx="4572000" cy="323165"/>
          </a:xfrm>
          <a:prstGeom prst="rect">
            <a:avLst/>
          </a:prstGeom>
          <a:noFill/>
        </p:spPr>
        <p:txBody>
          <a:bodyPr wrap="square">
            <a:spAutoFit/>
          </a:bodyPr>
          <a:lstStyle/>
          <a:p>
            <a:pPr algn="l"/>
            <a:r>
              <a:rPr sz="1500" b="0" i="0" dirty="0">
                <a:solidFill>
                  <a:srgbClr val="88A8C8"/>
                </a:solidFill>
                <a:latin typeface="Calibri"/>
              </a:rPr>
              <a:t>Predictive Analysis</a:t>
            </a:r>
            <a:r>
              <a:rPr lang="en-IN" sz="1500" b="0" i="0" dirty="0">
                <a:solidFill>
                  <a:srgbClr val="88A8C8"/>
                </a:solidFill>
                <a:latin typeface="Calibri"/>
              </a:rPr>
              <a:t> MDTS4214</a:t>
            </a:r>
            <a:endParaRPr sz="1500" b="0" i="0" dirty="0">
              <a:solidFill>
                <a:srgbClr val="88A8C8"/>
              </a:solidFill>
              <a:latin typeface="Calibri"/>
            </a:endParaRPr>
          </a:p>
        </p:txBody>
      </p:sp>
      <p:sp>
        <p:nvSpPr>
          <p:cNvPr id="4" name="TextBox 3"/>
          <p:cNvSpPr txBox="1"/>
          <p:nvPr/>
        </p:nvSpPr>
        <p:spPr>
          <a:xfrm>
            <a:off x="502920" y="2279117"/>
            <a:ext cx="4572000" cy="2926080"/>
          </a:xfrm>
          <a:prstGeom prst="rect">
            <a:avLst/>
          </a:prstGeom>
          <a:noFill/>
        </p:spPr>
        <p:txBody>
          <a:bodyPr wrap="square">
            <a:spAutoFit/>
          </a:bodyPr>
          <a:lstStyle/>
          <a:p>
            <a:pPr algn="l"/>
            <a:r>
              <a:rPr sz="4400" b="1" i="0" dirty="0">
                <a:solidFill>
                  <a:srgbClr val="FFFFFF"/>
                </a:solidFill>
                <a:latin typeface="Georgia"/>
              </a:rPr>
              <a:t>Life
Expectancy
Project</a:t>
            </a:r>
          </a:p>
        </p:txBody>
      </p:sp>
      <p:sp>
        <p:nvSpPr>
          <p:cNvPr id="5" name="TextBox 4"/>
          <p:cNvSpPr txBox="1"/>
          <p:nvPr/>
        </p:nvSpPr>
        <p:spPr>
          <a:xfrm>
            <a:off x="502920" y="5212080"/>
            <a:ext cx="4572000" cy="877163"/>
          </a:xfrm>
          <a:prstGeom prst="rect">
            <a:avLst/>
          </a:prstGeom>
          <a:noFill/>
        </p:spPr>
        <p:txBody>
          <a:bodyPr wrap="square">
            <a:spAutoFit/>
          </a:bodyPr>
          <a:lstStyle/>
          <a:p>
            <a:pPr algn="l"/>
            <a:r>
              <a:rPr lang="en-IN" sz="1700" dirty="0">
                <a:solidFill>
                  <a:srgbClr val="88A8C8"/>
                </a:solidFill>
                <a:latin typeface="Calibri"/>
              </a:rPr>
              <a:t>SRINJANA SEN</a:t>
            </a:r>
            <a:br>
              <a:rPr lang="en-IN" sz="1700" dirty="0">
                <a:solidFill>
                  <a:srgbClr val="88A8C8"/>
                </a:solidFill>
                <a:latin typeface="Calibri"/>
              </a:rPr>
            </a:br>
            <a:r>
              <a:rPr lang="en-IN" sz="1700" dirty="0">
                <a:solidFill>
                  <a:srgbClr val="88A8C8"/>
                </a:solidFill>
                <a:latin typeface="Calibri"/>
              </a:rPr>
              <a:t>PG SEM II</a:t>
            </a:r>
            <a:br>
              <a:rPr lang="en-IN" sz="1700" dirty="0">
                <a:solidFill>
                  <a:srgbClr val="88A8C8"/>
                </a:solidFill>
                <a:latin typeface="Calibri"/>
              </a:rPr>
            </a:br>
            <a:r>
              <a:rPr lang="en-IN" sz="1700" dirty="0">
                <a:solidFill>
                  <a:srgbClr val="88A8C8"/>
                </a:solidFill>
                <a:latin typeface="Calibri"/>
              </a:rPr>
              <a:t>ROLL: 735</a:t>
            </a:r>
            <a:endParaRPr sz="1700" b="0" i="0" dirty="0">
              <a:solidFill>
                <a:srgbClr val="88A8C8"/>
              </a:solidFill>
              <a:latin typeface="Calibri"/>
            </a:endParaRPr>
          </a:p>
        </p:txBody>
      </p:sp>
      <p:sp>
        <p:nvSpPr>
          <p:cNvPr id="6" name="TextBox 5"/>
          <p:cNvSpPr txBox="1"/>
          <p:nvPr/>
        </p:nvSpPr>
        <p:spPr>
          <a:xfrm>
            <a:off x="5486400" y="1463040"/>
            <a:ext cx="6309360" cy="323165"/>
          </a:xfrm>
          <a:prstGeom prst="rect">
            <a:avLst/>
          </a:prstGeom>
          <a:noFill/>
        </p:spPr>
        <p:txBody>
          <a:bodyPr wrap="square">
            <a:spAutoFit/>
          </a:bodyPr>
          <a:lstStyle/>
          <a:p>
            <a:pPr algn="l"/>
            <a:r>
              <a:rPr sz="1500" b="1" i="0" u="sng" dirty="0">
                <a:solidFill>
                  <a:srgbClr val="1C2E4A"/>
                </a:solidFill>
                <a:latin typeface="Georgia"/>
              </a:rPr>
              <a:t>Topics covered</a:t>
            </a:r>
          </a:p>
        </p:txBody>
      </p:sp>
      <p:sp>
        <p:nvSpPr>
          <p:cNvPr id="8" name="TextBox 7"/>
          <p:cNvSpPr txBox="1"/>
          <p:nvPr/>
        </p:nvSpPr>
        <p:spPr>
          <a:xfrm>
            <a:off x="5486400" y="2029968"/>
            <a:ext cx="6309360" cy="323165"/>
          </a:xfrm>
          <a:prstGeom prst="rect">
            <a:avLst/>
          </a:prstGeom>
          <a:noFill/>
        </p:spPr>
        <p:txBody>
          <a:bodyPr wrap="square">
            <a:spAutoFit/>
          </a:bodyPr>
          <a:lstStyle/>
          <a:p>
            <a:pPr algn="l"/>
            <a:r>
              <a:rPr sz="1500" b="1" i="0" dirty="0">
                <a:solidFill>
                  <a:srgbClr val="1C2E4A"/>
                </a:solidFill>
                <a:latin typeface="Calibri"/>
              </a:rPr>
              <a:t>Linear regression</a:t>
            </a:r>
          </a:p>
        </p:txBody>
      </p:sp>
      <p:sp>
        <p:nvSpPr>
          <p:cNvPr id="9" name="TextBox 8"/>
          <p:cNvSpPr txBox="1"/>
          <p:nvPr/>
        </p:nvSpPr>
        <p:spPr>
          <a:xfrm>
            <a:off x="5486400" y="2377440"/>
            <a:ext cx="6309360" cy="261610"/>
          </a:xfrm>
          <a:prstGeom prst="rect">
            <a:avLst/>
          </a:prstGeom>
          <a:noFill/>
        </p:spPr>
        <p:txBody>
          <a:bodyPr wrap="square">
            <a:spAutoFit/>
          </a:bodyPr>
          <a:lstStyle/>
          <a:p>
            <a:pPr algn="l"/>
            <a:r>
              <a:rPr sz="1100" b="0" i="0" dirty="0">
                <a:solidFill>
                  <a:srgbClr val="777777"/>
                </a:solidFill>
                <a:latin typeface="Calibri"/>
              </a:rPr>
              <a:t>SLR, MLR, dummy variables, regression diagnostics</a:t>
            </a:r>
          </a:p>
        </p:txBody>
      </p:sp>
      <p:sp>
        <p:nvSpPr>
          <p:cNvPr id="10" name="TextBox 9"/>
          <p:cNvSpPr txBox="1"/>
          <p:nvPr/>
        </p:nvSpPr>
        <p:spPr>
          <a:xfrm>
            <a:off x="5486400" y="2798064"/>
            <a:ext cx="6309360" cy="323165"/>
          </a:xfrm>
          <a:prstGeom prst="rect">
            <a:avLst/>
          </a:prstGeom>
          <a:noFill/>
        </p:spPr>
        <p:txBody>
          <a:bodyPr wrap="square">
            <a:spAutoFit/>
          </a:bodyPr>
          <a:lstStyle/>
          <a:p>
            <a:pPr algn="l"/>
            <a:r>
              <a:rPr sz="1500" b="1" i="0" dirty="0">
                <a:solidFill>
                  <a:srgbClr val="1C2E4A"/>
                </a:solidFill>
                <a:latin typeface="Calibri"/>
              </a:rPr>
              <a:t>Bias–variance tradeoff</a:t>
            </a:r>
          </a:p>
        </p:txBody>
      </p:sp>
      <p:sp>
        <p:nvSpPr>
          <p:cNvPr id="11" name="TextBox 10"/>
          <p:cNvSpPr txBox="1"/>
          <p:nvPr/>
        </p:nvSpPr>
        <p:spPr>
          <a:xfrm>
            <a:off x="5486400" y="3072384"/>
            <a:ext cx="6309360" cy="347472"/>
          </a:xfrm>
          <a:prstGeom prst="rect">
            <a:avLst/>
          </a:prstGeom>
          <a:noFill/>
        </p:spPr>
        <p:txBody>
          <a:bodyPr wrap="square">
            <a:spAutoFit/>
          </a:bodyPr>
          <a:lstStyle/>
          <a:p>
            <a:pPr algn="l"/>
            <a:r>
              <a:rPr sz="1100" b="0" i="0">
                <a:solidFill>
                  <a:srgbClr val="777777"/>
                </a:solidFill>
                <a:latin typeface="Calibri"/>
              </a:rPr>
              <a:t>KNN regression, model complexity</a:t>
            </a:r>
          </a:p>
        </p:txBody>
      </p:sp>
      <p:sp>
        <p:nvSpPr>
          <p:cNvPr id="12" name="TextBox 11"/>
          <p:cNvSpPr txBox="1"/>
          <p:nvPr/>
        </p:nvSpPr>
        <p:spPr>
          <a:xfrm>
            <a:off x="5486400" y="3566160"/>
            <a:ext cx="6309360" cy="323165"/>
          </a:xfrm>
          <a:prstGeom prst="rect">
            <a:avLst/>
          </a:prstGeom>
          <a:noFill/>
        </p:spPr>
        <p:txBody>
          <a:bodyPr wrap="square">
            <a:spAutoFit/>
          </a:bodyPr>
          <a:lstStyle/>
          <a:p>
            <a:pPr algn="l"/>
            <a:r>
              <a:rPr sz="1500" b="1" i="0" dirty="0">
                <a:solidFill>
                  <a:srgbClr val="1C2E4A"/>
                </a:solidFill>
                <a:latin typeface="Calibri"/>
              </a:rPr>
              <a:t>Classification</a:t>
            </a:r>
          </a:p>
        </p:txBody>
      </p:sp>
      <p:sp>
        <p:nvSpPr>
          <p:cNvPr id="13" name="TextBox 12"/>
          <p:cNvSpPr txBox="1"/>
          <p:nvPr/>
        </p:nvSpPr>
        <p:spPr>
          <a:xfrm>
            <a:off x="5486400" y="3840480"/>
            <a:ext cx="6309360" cy="347472"/>
          </a:xfrm>
          <a:prstGeom prst="rect">
            <a:avLst/>
          </a:prstGeom>
          <a:noFill/>
        </p:spPr>
        <p:txBody>
          <a:bodyPr wrap="square">
            <a:spAutoFit/>
          </a:bodyPr>
          <a:lstStyle/>
          <a:p>
            <a:pPr algn="l"/>
            <a:r>
              <a:rPr sz="1100" b="0" i="0" dirty="0">
                <a:solidFill>
                  <a:srgbClr val="777777"/>
                </a:solidFill>
                <a:latin typeface="Calibri"/>
              </a:rPr>
              <a:t>Binary and multi-class logistic regression</a:t>
            </a:r>
          </a:p>
        </p:txBody>
      </p:sp>
      <p:sp>
        <p:nvSpPr>
          <p:cNvPr id="14" name="TextBox 13"/>
          <p:cNvSpPr txBox="1"/>
          <p:nvPr/>
        </p:nvSpPr>
        <p:spPr>
          <a:xfrm>
            <a:off x="5486400" y="4334256"/>
            <a:ext cx="6309360" cy="323165"/>
          </a:xfrm>
          <a:prstGeom prst="rect">
            <a:avLst/>
          </a:prstGeom>
          <a:noFill/>
        </p:spPr>
        <p:txBody>
          <a:bodyPr wrap="square">
            <a:spAutoFit/>
          </a:bodyPr>
          <a:lstStyle/>
          <a:p>
            <a:pPr algn="l"/>
            <a:r>
              <a:rPr sz="1500" b="1" i="0" dirty="0">
                <a:solidFill>
                  <a:srgbClr val="1C2E4A"/>
                </a:solidFill>
                <a:latin typeface="Calibri"/>
              </a:rPr>
              <a:t>Model selection</a:t>
            </a:r>
          </a:p>
        </p:txBody>
      </p:sp>
      <p:sp>
        <p:nvSpPr>
          <p:cNvPr id="15" name="TextBox 14"/>
          <p:cNvSpPr txBox="1"/>
          <p:nvPr/>
        </p:nvSpPr>
        <p:spPr>
          <a:xfrm>
            <a:off x="5486400" y="4608576"/>
            <a:ext cx="6309360" cy="347472"/>
          </a:xfrm>
          <a:prstGeom prst="rect">
            <a:avLst/>
          </a:prstGeom>
          <a:noFill/>
        </p:spPr>
        <p:txBody>
          <a:bodyPr wrap="square">
            <a:spAutoFit/>
          </a:bodyPr>
          <a:lstStyle/>
          <a:p>
            <a:pPr algn="l"/>
            <a:r>
              <a:rPr sz="1100" b="0" i="0">
                <a:solidFill>
                  <a:srgbClr val="777777"/>
                </a:solidFill>
                <a:latin typeface="Calibri"/>
              </a:rPr>
              <a:t>Stepwise selection, adjusted R², AIC/BIC</a:t>
            </a:r>
          </a:p>
        </p:txBody>
      </p:sp>
      <p:sp>
        <p:nvSpPr>
          <p:cNvPr id="16" name="TextBox 15"/>
          <p:cNvSpPr txBox="1"/>
          <p:nvPr/>
        </p:nvSpPr>
        <p:spPr>
          <a:xfrm>
            <a:off x="5486400" y="5102352"/>
            <a:ext cx="6309360" cy="323165"/>
          </a:xfrm>
          <a:prstGeom prst="rect">
            <a:avLst/>
          </a:prstGeom>
          <a:noFill/>
        </p:spPr>
        <p:txBody>
          <a:bodyPr wrap="square">
            <a:spAutoFit/>
          </a:bodyPr>
          <a:lstStyle/>
          <a:p>
            <a:pPr algn="l"/>
            <a:r>
              <a:rPr sz="1500" b="1" i="0" dirty="0" err="1">
                <a:solidFill>
                  <a:srgbClr val="1C2E4A"/>
                </a:solidFill>
                <a:latin typeface="Calibri"/>
              </a:rPr>
              <a:t>Regularisation</a:t>
            </a:r>
            <a:endParaRPr sz="1500" b="1" i="0" dirty="0">
              <a:solidFill>
                <a:srgbClr val="1C2E4A"/>
              </a:solidFill>
              <a:latin typeface="Calibri"/>
            </a:endParaRPr>
          </a:p>
        </p:txBody>
      </p:sp>
      <p:sp>
        <p:nvSpPr>
          <p:cNvPr id="17" name="TextBox 16"/>
          <p:cNvSpPr txBox="1"/>
          <p:nvPr/>
        </p:nvSpPr>
        <p:spPr>
          <a:xfrm>
            <a:off x="5486400" y="5376672"/>
            <a:ext cx="6309360" cy="261610"/>
          </a:xfrm>
          <a:prstGeom prst="rect">
            <a:avLst/>
          </a:prstGeom>
          <a:noFill/>
        </p:spPr>
        <p:txBody>
          <a:bodyPr wrap="square">
            <a:spAutoFit/>
          </a:bodyPr>
          <a:lstStyle/>
          <a:p>
            <a:pPr algn="l"/>
            <a:r>
              <a:rPr sz="1100" b="0" i="0" dirty="0">
                <a:solidFill>
                  <a:srgbClr val="777777"/>
                </a:solidFill>
                <a:latin typeface="Calibri"/>
              </a:rPr>
              <a:t>Ridge, LASSO, Elastic</a:t>
            </a:r>
            <a:r>
              <a:rPr lang="en-IN" sz="1100" b="0" i="0" dirty="0">
                <a:solidFill>
                  <a:srgbClr val="777777"/>
                </a:solidFill>
                <a:latin typeface="Calibri"/>
              </a:rPr>
              <a:t> </a:t>
            </a:r>
            <a:r>
              <a:rPr sz="1100" b="0" i="0" dirty="0">
                <a:solidFill>
                  <a:srgbClr val="777777"/>
                </a:solidFill>
                <a:latin typeface="Calibri"/>
              </a:rPr>
              <a:t>Net</a:t>
            </a:r>
          </a:p>
        </p:txBody>
      </p:sp>
      <p:sp>
        <p:nvSpPr>
          <p:cNvPr id="18" name="TextBox 17"/>
          <p:cNvSpPr txBox="1"/>
          <p:nvPr/>
        </p:nvSpPr>
        <p:spPr>
          <a:xfrm>
            <a:off x="5486400" y="5870448"/>
            <a:ext cx="6309360" cy="323165"/>
          </a:xfrm>
          <a:prstGeom prst="rect">
            <a:avLst/>
          </a:prstGeom>
          <a:noFill/>
        </p:spPr>
        <p:txBody>
          <a:bodyPr wrap="square">
            <a:spAutoFit/>
          </a:bodyPr>
          <a:lstStyle/>
          <a:p>
            <a:pPr algn="l"/>
            <a:r>
              <a:rPr sz="1500" b="1" i="0" dirty="0">
                <a:solidFill>
                  <a:srgbClr val="1C2E4A"/>
                </a:solidFill>
                <a:latin typeface="Calibri"/>
              </a:rPr>
              <a:t>GLM</a:t>
            </a:r>
          </a:p>
        </p:txBody>
      </p:sp>
      <p:sp>
        <p:nvSpPr>
          <p:cNvPr id="19" name="TextBox 18"/>
          <p:cNvSpPr txBox="1"/>
          <p:nvPr/>
        </p:nvSpPr>
        <p:spPr>
          <a:xfrm>
            <a:off x="5486400" y="6144768"/>
            <a:ext cx="6309360" cy="347472"/>
          </a:xfrm>
          <a:prstGeom prst="rect">
            <a:avLst/>
          </a:prstGeom>
          <a:noFill/>
        </p:spPr>
        <p:txBody>
          <a:bodyPr wrap="square">
            <a:spAutoFit/>
          </a:bodyPr>
          <a:lstStyle/>
          <a:p>
            <a:pPr algn="l"/>
            <a:r>
              <a:rPr sz="1100" b="0" i="0">
                <a:solidFill>
                  <a:srgbClr val="777777"/>
                </a:solidFill>
                <a:latin typeface="Calibri"/>
              </a:rPr>
              <a:t>Logit link, contingency tables, log-linear models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9F8F5"/>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461665"/>
          </a:xfrm>
          <a:prstGeom prst="rect">
            <a:avLst/>
          </a:prstGeom>
          <a:noFill/>
        </p:spPr>
        <p:txBody>
          <a:bodyPr wrap="square">
            <a:spAutoFit/>
          </a:bodyPr>
          <a:lstStyle/>
          <a:p>
            <a:pPr algn="l"/>
            <a:r>
              <a:rPr sz="2400" b="1" i="0" u="sng" dirty="0">
                <a:solidFill>
                  <a:srgbClr val="1C2E4A"/>
                </a:solidFill>
                <a:latin typeface="Georgia"/>
              </a:rPr>
              <a:t>Dataset Overview</a:t>
            </a:r>
          </a:p>
        </p:txBody>
      </p:sp>
      <p:sp>
        <p:nvSpPr>
          <p:cNvPr id="3" name="TextBox 2"/>
          <p:cNvSpPr txBox="1"/>
          <p:nvPr/>
        </p:nvSpPr>
        <p:spPr>
          <a:xfrm>
            <a:off x="457200" y="804672"/>
            <a:ext cx="10972800" cy="261610"/>
          </a:xfrm>
          <a:prstGeom prst="rect">
            <a:avLst/>
          </a:prstGeom>
          <a:noFill/>
        </p:spPr>
        <p:txBody>
          <a:bodyPr wrap="square">
            <a:spAutoFit/>
          </a:bodyPr>
          <a:lstStyle/>
          <a:p>
            <a:pPr algn="l"/>
            <a:r>
              <a:rPr sz="1100" b="0" i="1" dirty="0">
                <a:solidFill>
                  <a:srgbClr val="777777"/>
                </a:solidFill>
                <a:latin typeface="Calibri"/>
              </a:rPr>
              <a:t>WHO Global Health Observatory</a:t>
            </a:r>
          </a:p>
        </p:txBody>
      </p:sp>
      <p:sp>
        <p:nvSpPr>
          <p:cNvPr id="5" name="TextBox 4"/>
          <p:cNvSpPr txBox="1"/>
          <p:nvPr/>
        </p:nvSpPr>
        <p:spPr>
          <a:xfrm>
            <a:off x="457200" y="1325880"/>
            <a:ext cx="2651760" cy="868680"/>
          </a:xfrm>
          <a:prstGeom prst="rect">
            <a:avLst/>
          </a:prstGeom>
          <a:noFill/>
        </p:spPr>
        <p:txBody>
          <a:bodyPr wrap="square">
            <a:spAutoFit/>
          </a:bodyPr>
          <a:lstStyle/>
          <a:p>
            <a:pPr algn="l"/>
            <a:r>
              <a:rPr sz="4800" b="1" i="0" dirty="0">
                <a:solidFill>
                  <a:srgbClr val="1C2E4A"/>
                </a:solidFill>
                <a:latin typeface="Georgia"/>
              </a:rPr>
              <a:t>2,938</a:t>
            </a:r>
          </a:p>
        </p:txBody>
      </p:sp>
      <p:sp>
        <p:nvSpPr>
          <p:cNvPr id="6" name="TextBox 5"/>
          <p:cNvSpPr txBox="1"/>
          <p:nvPr/>
        </p:nvSpPr>
        <p:spPr>
          <a:xfrm>
            <a:off x="457200" y="2148840"/>
            <a:ext cx="2651760" cy="320040"/>
          </a:xfrm>
          <a:prstGeom prst="rect">
            <a:avLst/>
          </a:prstGeom>
          <a:noFill/>
        </p:spPr>
        <p:txBody>
          <a:bodyPr wrap="square">
            <a:spAutoFit/>
          </a:bodyPr>
          <a:lstStyle/>
          <a:p>
            <a:pPr algn="l"/>
            <a:r>
              <a:rPr sz="1100" b="0" i="0">
                <a:solidFill>
                  <a:srgbClr val="777777"/>
                </a:solidFill>
                <a:latin typeface="Calibri"/>
              </a:rPr>
              <a:t>observations</a:t>
            </a:r>
          </a:p>
        </p:txBody>
      </p:sp>
      <p:sp>
        <p:nvSpPr>
          <p:cNvPr id="7" name="TextBox 6"/>
          <p:cNvSpPr txBox="1"/>
          <p:nvPr/>
        </p:nvSpPr>
        <p:spPr>
          <a:xfrm>
            <a:off x="3383280" y="1325880"/>
            <a:ext cx="2651760" cy="868680"/>
          </a:xfrm>
          <a:prstGeom prst="rect">
            <a:avLst/>
          </a:prstGeom>
          <a:noFill/>
        </p:spPr>
        <p:txBody>
          <a:bodyPr wrap="square">
            <a:spAutoFit/>
          </a:bodyPr>
          <a:lstStyle/>
          <a:p>
            <a:pPr algn="l"/>
            <a:r>
              <a:rPr sz="4800" b="1" i="0" dirty="0">
                <a:solidFill>
                  <a:srgbClr val="1C2E4A"/>
                </a:solidFill>
                <a:latin typeface="Georgia"/>
              </a:rPr>
              <a:t>22</a:t>
            </a:r>
          </a:p>
        </p:txBody>
      </p:sp>
      <p:sp>
        <p:nvSpPr>
          <p:cNvPr id="8" name="TextBox 7"/>
          <p:cNvSpPr txBox="1"/>
          <p:nvPr/>
        </p:nvSpPr>
        <p:spPr>
          <a:xfrm>
            <a:off x="3383280" y="2148840"/>
            <a:ext cx="2651760" cy="261610"/>
          </a:xfrm>
          <a:prstGeom prst="rect">
            <a:avLst/>
          </a:prstGeom>
          <a:noFill/>
        </p:spPr>
        <p:txBody>
          <a:bodyPr wrap="square">
            <a:spAutoFit/>
          </a:bodyPr>
          <a:lstStyle/>
          <a:p>
            <a:pPr algn="l"/>
            <a:r>
              <a:rPr lang="en-IN" sz="1100" b="0" i="0" dirty="0">
                <a:solidFill>
                  <a:srgbClr val="777777"/>
                </a:solidFill>
                <a:latin typeface="Calibri"/>
              </a:rPr>
              <a:t>variables</a:t>
            </a:r>
            <a:endParaRPr sz="1100" b="0" i="0" dirty="0">
              <a:solidFill>
                <a:srgbClr val="777777"/>
              </a:solidFill>
              <a:latin typeface="Calibri"/>
            </a:endParaRPr>
          </a:p>
        </p:txBody>
      </p:sp>
      <p:sp>
        <p:nvSpPr>
          <p:cNvPr id="9" name="TextBox 8"/>
          <p:cNvSpPr txBox="1"/>
          <p:nvPr/>
        </p:nvSpPr>
        <p:spPr>
          <a:xfrm>
            <a:off x="6309360" y="1325880"/>
            <a:ext cx="2651760" cy="868680"/>
          </a:xfrm>
          <a:prstGeom prst="rect">
            <a:avLst/>
          </a:prstGeom>
          <a:noFill/>
        </p:spPr>
        <p:txBody>
          <a:bodyPr wrap="square">
            <a:spAutoFit/>
          </a:bodyPr>
          <a:lstStyle/>
          <a:p>
            <a:pPr algn="l"/>
            <a:r>
              <a:rPr sz="4800" b="1" i="0" dirty="0">
                <a:solidFill>
                  <a:srgbClr val="1C2E4A"/>
                </a:solidFill>
                <a:latin typeface="Georgia"/>
              </a:rPr>
              <a:t>193</a:t>
            </a:r>
          </a:p>
        </p:txBody>
      </p:sp>
      <p:sp>
        <p:nvSpPr>
          <p:cNvPr id="10" name="TextBox 9"/>
          <p:cNvSpPr txBox="1"/>
          <p:nvPr/>
        </p:nvSpPr>
        <p:spPr>
          <a:xfrm>
            <a:off x="6309360" y="2148840"/>
            <a:ext cx="2651760" cy="320040"/>
          </a:xfrm>
          <a:prstGeom prst="rect">
            <a:avLst/>
          </a:prstGeom>
          <a:noFill/>
        </p:spPr>
        <p:txBody>
          <a:bodyPr wrap="square">
            <a:spAutoFit/>
          </a:bodyPr>
          <a:lstStyle/>
          <a:p>
            <a:pPr algn="l"/>
            <a:r>
              <a:rPr sz="1100" b="0" i="0">
                <a:solidFill>
                  <a:srgbClr val="777777"/>
                </a:solidFill>
                <a:latin typeface="Calibri"/>
              </a:rPr>
              <a:t>countries</a:t>
            </a:r>
          </a:p>
        </p:txBody>
      </p:sp>
      <p:sp>
        <p:nvSpPr>
          <p:cNvPr id="11" name="TextBox 10"/>
          <p:cNvSpPr txBox="1"/>
          <p:nvPr/>
        </p:nvSpPr>
        <p:spPr>
          <a:xfrm>
            <a:off x="9235440" y="1325880"/>
            <a:ext cx="2651760" cy="868680"/>
          </a:xfrm>
          <a:prstGeom prst="rect">
            <a:avLst/>
          </a:prstGeom>
          <a:noFill/>
        </p:spPr>
        <p:txBody>
          <a:bodyPr wrap="square">
            <a:spAutoFit/>
          </a:bodyPr>
          <a:lstStyle/>
          <a:p>
            <a:pPr algn="l"/>
            <a:r>
              <a:rPr sz="4800" b="1" i="0" dirty="0">
                <a:solidFill>
                  <a:srgbClr val="1C2E4A"/>
                </a:solidFill>
                <a:latin typeface="Georgia"/>
              </a:rPr>
              <a:t>16</a:t>
            </a:r>
          </a:p>
        </p:txBody>
      </p:sp>
      <p:sp>
        <p:nvSpPr>
          <p:cNvPr id="12" name="TextBox 11"/>
          <p:cNvSpPr txBox="1"/>
          <p:nvPr/>
        </p:nvSpPr>
        <p:spPr>
          <a:xfrm>
            <a:off x="9235440" y="2148840"/>
            <a:ext cx="2651760" cy="320040"/>
          </a:xfrm>
          <a:prstGeom prst="rect">
            <a:avLst/>
          </a:prstGeom>
          <a:noFill/>
        </p:spPr>
        <p:txBody>
          <a:bodyPr wrap="square">
            <a:spAutoFit/>
          </a:bodyPr>
          <a:lstStyle/>
          <a:p>
            <a:pPr algn="l"/>
            <a:r>
              <a:rPr sz="1100" b="0" i="0">
                <a:solidFill>
                  <a:srgbClr val="777777"/>
                </a:solidFill>
                <a:latin typeface="Calibri"/>
              </a:rPr>
              <a:t>years (2000–2015)</a:t>
            </a:r>
          </a:p>
        </p:txBody>
      </p:sp>
      <p:sp>
        <p:nvSpPr>
          <p:cNvPr id="14" name="TextBox 13"/>
          <p:cNvSpPr txBox="1"/>
          <p:nvPr/>
        </p:nvSpPr>
        <p:spPr>
          <a:xfrm>
            <a:off x="457200" y="2743200"/>
            <a:ext cx="5303520" cy="323165"/>
          </a:xfrm>
          <a:prstGeom prst="rect">
            <a:avLst/>
          </a:prstGeom>
          <a:noFill/>
        </p:spPr>
        <p:txBody>
          <a:bodyPr wrap="square">
            <a:spAutoFit/>
          </a:bodyPr>
          <a:lstStyle/>
          <a:p>
            <a:pPr algn="l"/>
            <a:r>
              <a:rPr sz="1500" b="1" i="0" dirty="0">
                <a:solidFill>
                  <a:srgbClr val="1C2E4A"/>
                </a:solidFill>
                <a:latin typeface="Georgia"/>
              </a:rPr>
              <a:t>Predictors</a:t>
            </a:r>
          </a:p>
        </p:txBody>
      </p:sp>
      <p:sp>
        <p:nvSpPr>
          <p:cNvPr id="15" name="TextBox 14"/>
          <p:cNvSpPr txBox="1"/>
          <p:nvPr/>
        </p:nvSpPr>
        <p:spPr>
          <a:xfrm>
            <a:off x="457200" y="3127248"/>
            <a:ext cx="5303520" cy="347472"/>
          </a:xfrm>
          <a:prstGeom prst="rect">
            <a:avLst/>
          </a:prstGeom>
          <a:noFill/>
        </p:spPr>
        <p:txBody>
          <a:bodyPr wrap="square">
            <a:spAutoFit/>
          </a:bodyPr>
          <a:lstStyle/>
          <a:p>
            <a:pPr algn="l"/>
            <a:r>
              <a:rPr sz="1100" b="0" i="0" dirty="0">
                <a:solidFill>
                  <a:srgbClr val="1A1A1A"/>
                </a:solidFill>
                <a:latin typeface="Calibri"/>
              </a:rPr>
              <a:t>— Adult Mortality (per 1,000)</a:t>
            </a:r>
          </a:p>
        </p:txBody>
      </p:sp>
      <p:sp>
        <p:nvSpPr>
          <p:cNvPr id="16" name="TextBox 15"/>
          <p:cNvSpPr txBox="1"/>
          <p:nvPr/>
        </p:nvSpPr>
        <p:spPr>
          <a:xfrm>
            <a:off x="457200" y="3502152"/>
            <a:ext cx="5303520" cy="347472"/>
          </a:xfrm>
          <a:prstGeom prst="rect">
            <a:avLst/>
          </a:prstGeom>
          <a:noFill/>
        </p:spPr>
        <p:txBody>
          <a:bodyPr wrap="square">
            <a:spAutoFit/>
          </a:bodyPr>
          <a:lstStyle/>
          <a:p>
            <a:pPr algn="l"/>
            <a:r>
              <a:rPr sz="1100" b="0" i="0" dirty="0">
                <a:solidFill>
                  <a:srgbClr val="1A1A1A"/>
                </a:solidFill>
                <a:latin typeface="Calibri"/>
              </a:rPr>
              <a:t>— Schooling — avg. years</a:t>
            </a:r>
          </a:p>
        </p:txBody>
      </p:sp>
      <p:sp>
        <p:nvSpPr>
          <p:cNvPr id="17" name="TextBox 16"/>
          <p:cNvSpPr txBox="1"/>
          <p:nvPr/>
        </p:nvSpPr>
        <p:spPr>
          <a:xfrm>
            <a:off x="457200" y="3877056"/>
            <a:ext cx="5303520" cy="347472"/>
          </a:xfrm>
          <a:prstGeom prst="rect">
            <a:avLst/>
          </a:prstGeom>
          <a:noFill/>
        </p:spPr>
        <p:txBody>
          <a:bodyPr wrap="square">
            <a:spAutoFit/>
          </a:bodyPr>
          <a:lstStyle/>
          <a:p>
            <a:pPr algn="l"/>
            <a:r>
              <a:rPr sz="1100" b="0" i="0">
                <a:solidFill>
                  <a:srgbClr val="1A1A1A"/>
                </a:solidFill>
                <a:latin typeface="Calibri"/>
              </a:rPr>
              <a:t>— Income composition (HDI proxy)</a:t>
            </a:r>
          </a:p>
        </p:txBody>
      </p:sp>
      <p:sp>
        <p:nvSpPr>
          <p:cNvPr id="18" name="TextBox 17"/>
          <p:cNvSpPr txBox="1"/>
          <p:nvPr/>
        </p:nvSpPr>
        <p:spPr>
          <a:xfrm>
            <a:off x="457200" y="4251960"/>
            <a:ext cx="5303520" cy="347472"/>
          </a:xfrm>
          <a:prstGeom prst="rect">
            <a:avLst/>
          </a:prstGeom>
          <a:noFill/>
        </p:spPr>
        <p:txBody>
          <a:bodyPr wrap="square">
            <a:spAutoFit/>
          </a:bodyPr>
          <a:lstStyle/>
          <a:p>
            <a:pPr algn="l"/>
            <a:r>
              <a:rPr sz="1100" b="0" i="0">
                <a:solidFill>
                  <a:srgbClr val="1A1A1A"/>
                </a:solidFill>
                <a:latin typeface="Calibri"/>
              </a:rPr>
              <a:t>— BMI, Alcohol consumption</a:t>
            </a:r>
          </a:p>
        </p:txBody>
      </p:sp>
      <p:sp>
        <p:nvSpPr>
          <p:cNvPr id="19" name="TextBox 18"/>
          <p:cNvSpPr txBox="1"/>
          <p:nvPr/>
        </p:nvSpPr>
        <p:spPr>
          <a:xfrm>
            <a:off x="457200" y="4626864"/>
            <a:ext cx="5303520" cy="347472"/>
          </a:xfrm>
          <a:prstGeom prst="rect">
            <a:avLst/>
          </a:prstGeom>
          <a:noFill/>
        </p:spPr>
        <p:txBody>
          <a:bodyPr wrap="square">
            <a:spAutoFit/>
          </a:bodyPr>
          <a:lstStyle/>
          <a:p>
            <a:pPr algn="l"/>
            <a:r>
              <a:rPr sz="1100" b="0" i="0">
                <a:solidFill>
                  <a:srgbClr val="1A1A1A"/>
                </a:solidFill>
                <a:latin typeface="Calibri"/>
              </a:rPr>
              <a:t>— HIV/AIDS mortality (per 1,000)</a:t>
            </a:r>
          </a:p>
        </p:txBody>
      </p:sp>
      <p:sp>
        <p:nvSpPr>
          <p:cNvPr id="20" name="TextBox 19"/>
          <p:cNvSpPr txBox="1"/>
          <p:nvPr/>
        </p:nvSpPr>
        <p:spPr>
          <a:xfrm>
            <a:off x="457200" y="5001768"/>
            <a:ext cx="5303520" cy="347472"/>
          </a:xfrm>
          <a:prstGeom prst="rect">
            <a:avLst/>
          </a:prstGeom>
          <a:noFill/>
        </p:spPr>
        <p:txBody>
          <a:bodyPr wrap="square">
            <a:spAutoFit/>
          </a:bodyPr>
          <a:lstStyle/>
          <a:p>
            <a:pPr algn="l"/>
            <a:r>
              <a:rPr sz="1100" b="0" i="0">
                <a:solidFill>
                  <a:srgbClr val="1A1A1A"/>
                </a:solidFill>
                <a:latin typeface="Calibri"/>
              </a:rPr>
              <a:t>— GDP per capita</a:t>
            </a:r>
          </a:p>
        </p:txBody>
      </p:sp>
      <p:sp>
        <p:nvSpPr>
          <p:cNvPr id="21" name="TextBox 20"/>
          <p:cNvSpPr txBox="1"/>
          <p:nvPr/>
        </p:nvSpPr>
        <p:spPr>
          <a:xfrm>
            <a:off x="457200" y="5376672"/>
            <a:ext cx="5303520" cy="347472"/>
          </a:xfrm>
          <a:prstGeom prst="rect">
            <a:avLst/>
          </a:prstGeom>
          <a:noFill/>
        </p:spPr>
        <p:txBody>
          <a:bodyPr wrap="square">
            <a:spAutoFit/>
          </a:bodyPr>
          <a:lstStyle/>
          <a:p>
            <a:pPr algn="l"/>
            <a:r>
              <a:rPr sz="1100" b="0" i="0">
                <a:solidFill>
                  <a:srgbClr val="1A1A1A"/>
                </a:solidFill>
                <a:latin typeface="Calibri"/>
              </a:rPr>
              <a:t>— Polio, Diphtheria, Hepatitis B rates</a:t>
            </a:r>
          </a:p>
        </p:txBody>
      </p:sp>
      <p:sp>
        <p:nvSpPr>
          <p:cNvPr id="22" name="TextBox 21"/>
          <p:cNvSpPr txBox="1"/>
          <p:nvPr/>
        </p:nvSpPr>
        <p:spPr>
          <a:xfrm>
            <a:off x="457200" y="5751575"/>
            <a:ext cx="5303520" cy="347472"/>
          </a:xfrm>
          <a:prstGeom prst="rect">
            <a:avLst/>
          </a:prstGeom>
          <a:noFill/>
        </p:spPr>
        <p:txBody>
          <a:bodyPr wrap="square">
            <a:spAutoFit/>
          </a:bodyPr>
          <a:lstStyle/>
          <a:p>
            <a:pPr algn="l"/>
            <a:r>
              <a:rPr sz="1100" b="0" i="0">
                <a:solidFill>
                  <a:srgbClr val="1A1A1A"/>
                </a:solidFill>
                <a:latin typeface="Calibri"/>
              </a:rPr>
              <a:t>— Population, thinness, infant deaths</a:t>
            </a:r>
          </a:p>
        </p:txBody>
      </p:sp>
      <p:sp>
        <p:nvSpPr>
          <p:cNvPr id="23" name="TextBox 22"/>
          <p:cNvSpPr txBox="1"/>
          <p:nvPr/>
        </p:nvSpPr>
        <p:spPr>
          <a:xfrm>
            <a:off x="6400800" y="2743200"/>
            <a:ext cx="5486400" cy="323165"/>
          </a:xfrm>
          <a:prstGeom prst="rect">
            <a:avLst/>
          </a:prstGeom>
          <a:noFill/>
        </p:spPr>
        <p:txBody>
          <a:bodyPr wrap="square">
            <a:spAutoFit/>
          </a:bodyPr>
          <a:lstStyle/>
          <a:p>
            <a:pPr algn="l"/>
            <a:r>
              <a:rPr sz="1500" b="1" i="0" dirty="0">
                <a:solidFill>
                  <a:srgbClr val="1C2E4A"/>
                </a:solidFill>
                <a:latin typeface="Georgia"/>
              </a:rPr>
              <a:t>Targets</a:t>
            </a:r>
          </a:p>
        </p:txBody>
      </p:sp>
      <p:sp>
        <p:nvSpPr>
          <p:cNvPr id="24" name="TextBox 23"/>
          <p:cNvSpPr txBox="1"/>
          <p:nvPr/>
        </p:nvSpPr>
        <p:spPr>
          <a:xfrm>
            <a:off x="6400800" y="3154680"/>
            <a:ext cx="5486400" cy="323165"/>
          </a:xfrm>
          <a:prstGeom prst="rect">
            <a:avLst/>
          </a:prstGeom>
          <a:noFill/>
        </p:spPr>
        <p:txBody>
          <a:bodyPr wrap="square">
            <a:spAutoFit/>
          </a:bodyPr>
          <a:lstStyle/>
          <a:p>
            <a:pPr algn="l"/>
            <a:r>
              <a:rPr sz="1500" b="1" i="0" dirty="0">
                <a:solidFill>
                  <a:srgbClr val="2A5FA8"/>
                </a:solidFill>
                <a:latin typeface="Calibri"/>
              </a:rPr>
              <a:t>Regression</a:t>
            </a:r>
          </a:p>
        </p:txBody>
      </p:sp>
      <p:sp>
        <p:nvSpPr>
          <p:cNvPr id="25" name="TextBox 24"/>
          <p:cNvSpPr txBox="1"/>
          <p:nvPr/>
        </p:nvSpPr>
        <p:spPr>
          <a:xfrm>
            <a:off x="6400800" y="3429000"/>
            <a:ext cx="5486400" cy="292608"/>
          </a:xfrm>
          <a:prstGeom prst="rect">
            <a:avLst/>
          </a:prstGeom>
          <a:noFill/>
        </p:spPr>
        <p:txBody>
          <a:bodyPr wrap="square">
            <a:spAutoFit/>
          </a:bodyPr>
          <a:lstStyle/>
          <a:p>
            <a:pPr algn="l"/>
            <a:r>
              <a:rPr sz="1100" b="0" i="0">
                <a:solidFill>
                  <a:srgbClr val="1A1A1A"/>
                </a:solidFill>
                <a:latin typeface="Calibri"/>
              </a:rPr>
              <a:t>Life Expectancy — continuous, years (36.3 → 89.0)</a:t>
            </a:r>
          </a:p>
        </p:txBody>
      </p:sp>
      <p:sp>
        <p:nvSpPr>
          <p:cNvPr id="26" name="TextBox 25"/>
          <p:cNvSpPr txBox="1"/>
          <p:nvPr/>
        </p:nvSpPr>
        <p:spPr>
          <a:xfrm>
            <a:off x="6400800" y="3840480"/>
            <a:ext cx="5486400" cy="323165"/>
          </a:xfrm>
          <a:prstGeom prst="rect">
            <a:avLst/>
          </a:prstGeom>
          <a:noFill/>
        </p:spPr>
        <p:txBody>
          <a:bodyPr wrap="square">
            <a:spAutoFit/>
          </a:bodyPr>
          <a:lstStyle/>
          <a:p>
            <a:pPr algn="l"/>
            <a:r>
              <a:rPr sz="1500" b="1" i="0" dirty="0">
                <a:solidFill>
                  <a:srgbClr val="2A5FA8"/>
                </a:solidFill>
                <a:latin typeface="Calibri"/>
              </a:rPr>
              <a:t>Classification</a:t>
            </a:r>
          </a:p>
        </p:txBody>
      </p:sp>
      <p:sp>
        <p:nvSpPr>
          <p:cNvPr id="27" name="TextBox 26"/>
          <p:cNvSpPr txBox="1"/>
          <p:nvPr/>
        </p:nvSpPr>
        <p:spPr>
          <a:xfrm>
            <a:off x="6400800" y="4114800"/>
            <a:ext cx="5486400" cy="292608"/>
          </a:xfrm>
          <a:prstGeom prst="rect">
            <a:avLst/>
          </a:prstGeom>
          <a:noFill/>
        </p:spPr>
        <p:txBody>
          <a:bodyPr wrap="square">
            <a:spAutoFit/>
          </a:bodyPr>
          <a:lstStyle/>
          <a:p>
            <a:pPr algn="l"/>
            <a:r>
              <a:rPr sz="1100" b="0" i="0">
                <a:solidFill>
                  <a:srgbClr val="1A1A1A"/>
                </a:solidFill>
                <a:latin typeface="Calibri"/>
              </a:rPr>
              <a:t>Development Status — Developed (512) vs Developing (2,426)</a:t>
            </a:r>
          </a:p>
        </p:txBody>
      </p:sp>
      <p:sp>
        <p:nvSpPr>
          <p:cNvPr id="28" name="TextBox 27"/>
          <p:cNvSpPr txBox="1"/>
          <p:nvPr/>
        </p:nvSpPr>
        <p:spPr>
          <a:xfrm>
            <a:off x="6400800" y="4526280"/>
            <a:ext cx="5486400" cy="323165"/>
          </a:xfrm>
          <a:prstGeom prst="rect">
            <a:avLst/>
          </a:prstGeom>
          <a:noFill/>
        </p:spPr>
        <p:txBody>
          <a:bodyPr wrap="square">
            <a:spAutoFit/>
          </a:bodyPr>
          <a:lstStyle/>
          <a:p>
            <a:pPr algn="l"/>
            <a:r>
              <a:rPr sz="1500" b="1" i="0" dirty="0">
                <a:solidFill>
                  <a:srgbClr val="C06A1A"/>
                </a:solidFill>
                <a:latin typeface="Calibri"/>
              </a:rPr>
              <a:t>Missing data</a:t>
            </a:r>
          </a:p>
        </p:txBody>
      </p:sp>
      <p:sp>
        <p:nvSpPr>
          <p:cNvPr id="29" name="TextBox 28"/>
          <p:cNvSpPr txBox="1"/>
          <p:nvPr/>
        </p:nvSpPr>
        <p:spPr>
          <a:xfrm>
            <a:off x="6400800" y="4800600"/>
            <a:ext cx="5486400" cy="658368"/>
          </a:xfrm>
          <a:prstGeom prst="rect">
            <a:avLst/>
          </a:prstGeom>
          <a:noFill/>
        </p:spPr>
        <p:txBody>
          <a:bodyPr wrap="square">
            <a:spAutoFit/>
          </a:bodyPr>
          <a:lstStyle/>
          <a:p>
            <a:pPr algn="l"/>
            <a:r>
              <a:rPr sz="1100" b="0" i="0">
                <a:solidFill>
                  <a:srgbClr val="1A1A1A"/>
                </a:solidFill>
                <a:latin typeface="Calibri"/>
              </a:rPr>
              <a:t>GDP (448), Population (652), Hepatitis B (553), Alcohol (194).
Complete-case analysis → 1,649 fully-observed rows used for modelling.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9F8F5"/>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461665"/>
          </a:xfrm>
          <a:prstGeom prst="rect">
            <a:avLst/>
          </a:prstGeom>
          <a:noFill/>
        </p:spPr>
        <p:txBody>
          <a:bodyPr wrap="square">
            <a:spAutoFit/>
          </a:bodyPr>
          <a:lstStyle/>
          <a:p>
            <a:pPr algn="l"/>
            <a:r>
              <a:rPr sz="2400" b="1" i="0" u="sng" dirty="0">
                <a:solidFill>
                  <a:srgbClr val="1C2E4A"/>
                </a:solidFill>
                <a:latin typeface="Georgia"/>
              </a:rPr>
              <a:t>Exploratory Data Analysis</a:t>
            </a:r>
          </a:p>
        </p:txBody>
      </p:sp>
      <p:pic>
        <p:nvPicPr>
          <p:cNvPr id="5" name="Picture 4" descr="01_distribution.png"/>
          <p:cNvPicPr>
            <a:picLocks noChangeAspect="1"/>
          </p:cNvPicPr>
          <p:nvPr/>
        </p:nvPicPr>
        <p:blipFill>
          <a:blip r:embed="rId2"/>
          <a:stretch>
            <a:fillRect/>
          </a:stretch>
        </p:blipFill>
        <p:spPr>
          <a:xfrm>
            <a:off x="365760" y="1261872"/>
            <a:ext cx="7863840" cy="5257800"/>
          </a:xfrm>
          <a:prstGeom prst="rect">
            <a:avLst/>
          </a:prstGeom>
        </p:spPr>
      </p:pic>
      <p:sp>
        <p:nvSpPr>
          <p:cNvPr id="6" name="TextBox 5"/>
          <p:cNvSpPr txBox="1"/>
          <p:nvPr/>
        </p:nvSpPr>
        <p:spPr>
          <a:xfrm>
            <a:off x="8412480" y="1298448"/>
            <a:ext cx="3566160" cy="323165"/>
          </a:xfrm>
          <a:prstGeom prst="rect">
            <a:avLst/>
          </a:prstGeom>
          <a:noFill/>
        </p:spPr>
        <p:txBody>
          <a:bodyPr wrap="square">
            <a:spAutoFit/>
          </a:bodyPr>
          <a:lstStyle/>
          <a:p>
            <a:pPr algn="l"/>
            <a:r>
              <a:rPr sz="1500" b="1" i="0" dirty="0">
                <a:solidFill>
                  <a:srgbClr val="1C2E4A"/>
                </a:solidFill>
                <a:latin typeface="Georgia"/>
              </a:rPr>
              <a:t>What the distribution shows</a:t>
            </a:r>
            <a:r>
              <a:rPr lang="en-IN" sz="1500" b="1" dirty="0">
                <a:solidFill>
                  <a:srgbClr val="1C2E4A"/>
                </a:solidFill>
                <a:latin typeface="Georgia"/>
              </a:rPr>
              <a:t>:</a:t>
            </a:r>
            <a:endParaRPr sz="1500" b="1" i="0" dirty="0">
              <a:solidFill>
                <a:srgbClr val="1C2E4A"/>
              </a:solidFill>
              <a:latin typeface="Georgia"/>
            </a:endParaRPr>
          </a:p>
        </p:txBody>
      </p:sp>
      <p:sp>
        <p:nvSpPr>
          <p:cNvPr id="8" name="TextBox 7"/>
          <p:cNvSpPr txBox="1"/>
          <p:nvPr/>
        </p:nvSpPr>
        <p:spPr>
          <a:xfrm>
            <a:off x="8412480" y="1810512"/>
            <a:ext cx="3566160" cy="3323987"/>
          </a:xfrm>
          <a:prstGeom prst="rect">
            <a:avLst/>
          </a:prstGeom>
          <a:noFill/>
        </p:spPr>
        <p:txBody>
          <a:bodyPr wrap="square">
            <a:spAutoFit/>
          </a:bodyPr>
          <a:lstStyle/>
          <a:p>
            <a:pPr algn="l"/>
            <a:r>
              <a:rPr sz="1500" b="0" i="0" dirty="0">
                <a:solidFill>
                  <a:srgbClr val="1A1A1A"/>
                </a:solidFill>
                <a:latin typeface="Calibri"/>
              </a:rPr>
              <a:t>The global mean is 69.2 years, but the spread is wide — from 36 years in the worst cases to 89 at the top end. The distribution is slightly left-skewed, with most observations clustered between 60 and 80.
The boxplot makes the development gap immediate: Developed countries sit around a median of 79 years with little spread, while Developing countries are </a:t>
            </a:r>
            <a:r>
              <a:rPr sz="1500" b="0" i="0" dirty="0" err="1">
                <a:solidFill>
                  <a:srgbClr val="1A1A1A"/>
                </a:solidFill>
                <a:latin typeface="Calibri"/>
              </a:rPr>
              <a:t>centred</a:t>
            </a:r>
            <a:r>
              <a:rPr sz="1500" b="0" i="0" dirty="0">
                <a:solidFill>
                  <a:srgbClr val="1A1A1A"/>
                </a:solidFill>
                <a:latin typeface="Calibri"/>
              </a:rPr>
              <a:t> near 69 with far more variation. This gap drives a lot of the signal across every model we run.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9F8F5"/>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461665"/>
          </a:xfrm>
          <a:prstGeom prst="rect">
            <a:avLst/>
          </a:prstGeom>
          <a:noFill/>
        </p:spPr>
        <p:txBody>
          <a:bodyPr wrap="square">
            <a:spAutoFit/>
          </a:bodyPr>
          <a:lstStyle/>
          <a:p>
            <a:pPr algn="l"/>
            <a:r>
              <a:rPr sz="2400" b="1" i="0" u="sng" dirty="0">
                <a:solidFill>
                  <a:srgbClr val="1C2E4A"/>
                </a:solidFill>
                <a:latin typeface="Georgia"/>
              </a:rPr>
              <a:t>Correlation Analysis</a:t>
            </a:r>
          </a:p>
        </p:txBody>
      </p:sp>
      <p:pic>
        <p:nvPicPr>
          <p:cNvPr id="5" name="Picture 4" descr="02_correlation.png"/>
          <p:cNvPicPr>
            <a:picLocks noChangeAspect="1"/>
          </p:cNvPicPr>
          <p:nvPr/>
        </p:nvPicPr>
        <p:blipFill>
          <a:blip r:embed="rId2"/>
          <a:stretch>
            <a:fillRect/>
          </a:stretch>
        </p:blipFill>
        <p:spPr>
          <a:xfrm>
            <a:off x="365760" y="1261872"/>
            <a:ext cx="7223760" cy="5257800"/>
          </a:xfrm>
          <a:prstGeom prst="rect">
            <a:avLst/>
          </a:prstGeom>
        </p:spPr>
      </p:pic>
      <p:sp>
        <p:nvSpPr>
          <p:cNvPr id="6" name="TextBox 5"/>
          <p:cNvSpPr txBox="1"/>
          <p:nvPr/>
        </p:nvSpPr>
        <p:spPr>
          <a:xfrm>
            <a:off x="7772400" y="1298448"/>
            <a:ext cx="4206240" cy="323165"/>
          </a:xfrm>
          <a:prstGeom prst="rect">
            <a:avLst/>
          </a:prstGeom>
          <a:noFill/>
        </p:spPr>
        <p:txBody>
          <a:bodyPr wrap="square">
            <a:spAutoFit/>
          </a:bodyPr>
          <a:lstStyle/>
          <a:p>
            <a:pPr algn="l"/>
            <a:r>
              <a:rPr sz="1500" b="1" i="0" dirty="0">
                <a:solidFill>
                  <a:srgbClr val="1C2E4A"/>
                </a:solidFill>
                <a:latin typeface="Georgia"/>
              </a:rPr>
              <a:t>Strongest signals</a:t>
            </a:r>
            <a:r>
              <a:rPr lang="en-IN" sz="1500" b="1" i="0" dirty="0">
                <a:solidFill>
                  <a:srgbClr val="1C2E4A"/>
                </a:solidFill>
                <a:latin typeface="Georgia"/>
              </a:rPr>
              <a:t>:</a:t>
            </a:r>
            <a:endParaRPr sz="1500" b="1" i="0" dirty="0">
              <a:solidFill>
                <a:srgbClr val="1C2E4A"/>
              </a:solidFill>
              <a:latin typeface="Georgia"/>
            </a:endParaRPr>
          </a:p>
        </p:txBody>
      </p:sp>
      <p:sp>
        <p:nvSpPr>
          <p:cNvPr id="8" name="TextBox 7"/>
          <p:cNvSpPr txBox="1"/>
          <p:nvPr/>
        </p:nvSpPr>
        <p:spPr>
          <a:xfrm>
            <a:off x="7772400" y="1810512"/>
            <a:ext cx="4206240" cy="2862322"/>
          </a:xfrm>
          <a:prstGeom prst="rect">
            <a:avLst/>
          </a:prstGeom>
          <a:noFill/>
        </p:spPr>
        <p:txBody>
          <a:bodyPr wrap="square">
            <a:spAutoFit/>
          </a:bodyPr>
          <a:lstStyle/>
          <a:p>
            <a:pPr algn="l"/>
            <a:r>
              <a:rPr sz="1500" b="0" i="0" dirty="0">
                <a:solidFill>
                  <a:srgbClr val="1A1A1A"/>
                </a:solidFill>
                <a:latin typeface="Calibri"/>
              </a:rPr>
              <a:t>Positive — higher values go with longer lives:
</a:t>
            </a:r>
            <a:r>
              <a:rPr sz="1500" b="0" i="0" dirty="0" err="1">
                <a:solidFill>
                  <a:srgbClr val="1A1A1A"/>
                </a:solidFill>
                <a:latin typeface="Calibri"/>
              </a:rPr>
              <a:t>Scholing</a:t>
            </a:r>
            <a:r>
              <a:rPr sz="1500" b="0" i="0" dirty="0">
                <a:solidFill>
                  <a:srgbClr val="1A1A1A"/>
                </a:solidFill>
                <a:latin typeface="Calibri"/>
              </a:rPr>
              <a:t> (+0.75), Income composition (+0.72), BMI (+0.57), vaccination rates (~+0.47)
Negative — higher values go with shorter lives:
Adult Mortality (–0.70), HIV/AIDS (–0.56), Thinness (–0.47)
Note: the two thinness variables (ages 1–19 and 5–9) correlate at r ≈ 0.93 with each other — we only keep one in the models to avoid near-perfect multicollinearity.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9F8F5"/>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461665"/>
          </a:xfrm>
          <a:prstGeom prst="rect">
            <a:avLst/>
          </a:prstGeom>
          <a:noFill/>
        </p:spPr>
        <p:txBody>
          <a:bodyPr wrap="square">
            <a:spAutoFit/>
          </a:bodyPr>
          <a:lstStyle/>
          <a:p>
            <a:pPr algn="l"/>
            <a:r>
              <a:rPr sz="2400" b="1" i="0" u="sng" dirty="0">
                <a:solidFill>
                  <a:srgbClr val="1C2E4A"/>
                </a:solidFill>
                <a:latin typeface="Georgia"/>
              </a:rPr>
              <a:t>Simple Linear Regression</a:t>
            </a:r>
          </a:p>
        </p:txBody>
      </p:sp>
      <p:pic>
        <p:nvPicPr>
          <p:cNvPr id="5" name="Picture 4" descr="03_simple_lr.png"/>
          <p:cNvPicPr>
            <a:picLocks noChangeAspect="1"/>
          </p:cNvPicPr>
          <p:nvPr/>
        </p:nvPicPr>
        <p:blipFill>
          <a:blip r:embed="rId2"/>
          <a:stretch>
            <a:fillRect/>
          </a:stretch>
        </p:blipFill>
        <p:spPr>
          <a:xfrm>
            <a:off x="365760" y="1261872"/>
            <a:ext cx="7863840" cy="5257800"/>
          </a:xfrm>
          <a:prstGeom prst="rect">
            <a:avLst/>
          </a:prstGeom>
        </p:spPr>
      </p:pic>
      <p:sp>
        <p:nvSpPr>
          <p:cNvPr id="6" name="TextBox 5"/>
          <p:cNvSpPr txBox="1"/>
          <p:nvPr/>
        </p:nvSpPr>
        <p:spPr>
          <a:xfrm>
            <a:off x="8412480" y="1298448"/>
            <a:ext cx="3566160" cy="323165"/>
          </a:xfrm>
          <a:prstGeom prst="rect">
            <a:avLst/>
          </a:prstGeom>
          <a:noFill/>
        </p:spPr>
        <p:txBody>
          <a:bodyPr wrap="square">
            <a:spAutoFit/>
          </a:bodyPr>
          <a:lstStyle/>
          <a:p>
            <a:pPr algn="l"/>
            <a:r>
              <a:rPr sz="1500" b="1" i="0" dirty="0">
                <a:solidFill>
                  <a:srgbClr val="1C2E4A"/>
                </a:solidFill>
                <a:latin typeface="Georgia"/>
              </a:rPr>
              <a:t>Model and results</a:t>
            </a:r>
            <a:r>
              <a:rPr lang="en-IN" sz="1500" b="1" i="0" dirty="0">
                <a:solidFill>
                  <a:srgbClr val="1C2E4A"/>
                </a:solidFill>
                <a:latin typeface="Georgia"/>
              </a:rPr>
              <a:t>:</a:t>
            </a:r>
            <a:endParaRPr sz="1500" b="1" i="0" dirty="0">
              <a:solidFill>
                <a:srgbClr val="1C2E4A"/>
              </a:solidFill>
              <a:latin typeface="Georgia"/>
            </a:endParaRPr>
          </a:p>
        </p:txBody>
      </p:sp>
      <p:sp>
        <p:nvSpPr>
          <p:cNvPr id="8" name="TextBox 7"/>
          <p:cNvSpPr txBox="1"/>
          <p:nvPr/>
        </p:nvSpPr>
        <p:spPr>
          <a:xfrm>
            <a:off x="8412480" y="1828800"/>
            <a:ext cx="3566160" cy="411480"/>
          </a:xfrm>
          <a:prstGeom prst="rect">
            <a:avLst/>
          </a:prstGeom>
          <a:noFill/>
        </p:spPr>
        <p:txBody>
          <a:bodyPr wrap="square">
            <a:spAutoFit/>
          </a:bodyPr>
          <a:lstStyle/>
          <a:p>
            <a:pPr algn="l"/>
            <a:r>
              <a:rPr sz="1300" b="0" i="1">
                <a:solidFill>
                  <a:srgbClr val="1C2E4A"/>
                </a:solidFill>
                <a:latin typeface="Georgia"/>
              </a:rPr>
              <a:t>ŷ  =  42.94  +  2.17 × Schooling</a:t>
            </a:r>
          </a:p>
        </p:txBody>
      </p:sp>
      <p:sp>
        <p:nvSpPr>
          <p:cNvPr id="9" name="TextBox 8"/>
          <p:cNvSpPr txBox="1"/>
          <p:nvPr/>
        </p:nvSpPr>
        <p:spPr>
          <a:xfrm>
            <a:off x="8412480" y="2286000"/>
            <a:ext cx="3566160" cy="261610"/>
          </a:xfrm>
          <a:prstGeom prst="rect">
            <a:avLst/>
          </a:prstGeom>
          <a:noFill/>
        </p:spPr>
        <p:txBody>
          <a:bodyPr wrap="square">
            <a:spAutoFit/>
          </a:bodyPr>
          <a:lstStyle/>
          <a:p>
            <a:pPr algn="l"/>
            <a:r>
              <a:rPr sz="1100" b="0" i="0" dirty="0">
                <a:solidFill>
                  <a:srgbClr val="777777"/>
                </a:solidFill>
                <a:latin typeface="Calibri"/>
              </a:rPr>
              <a:t>R² = 0.565 </a:t>
            </a:r>
          </a:p>
        </p:txBody>
      </p:sp>
      <p:sp>
        <p:nvSpPr>
          <p:cNvPr id="11" name="TextBox 10"/>
          <p:cNvSpPr txBox="1"/>
          <p:nvPr/>
        </p:nvSpPr>
        <p:spPr>
          <a:xfrm>
            <a:off x="8412480" y="2834640"/>
            <a:ext cx="3566160" cy="1938992"/>
          </a:xfrm>
          <a:prstGeom prst="rect">
            <a:avLst/>
          </a:prstGeom>
          <a:noFill/>
        </p:spPr>
        <p:txBody>
          <a:bodyPr wrap="square">
            <a:spAutoFit/>
          </a:bodyPr>
          <a:lstStyle/>
          <a:p>
            <a:pPr algn="l"/>
            <a:r>
              <a:rPr sz="1500" b="0" i="0" dirty="0">
                <a:solidFill>
                  <a:srgbClr val="1A1A1A"/>
                </a:solidFill>
                <a:latin typeface="Calibri"/>
              </a:rPr>
              <a:t>Each additional year of schooling is associated with about 2.2 more years of expected life. The relationship is fairly linear but noisy — schooling explains just over half the variance on its own. The residual spread suggests other factors (income, disease burden) matter too, which motivates the multiple regression.</a:t>
            </a:r>
          </a:p>
        </p:txBody>
      </p:sp>
      <p:sp>
        <p:nvSpPr>
          <p:cNvPr id="13" name="TextBox 12"/>
          <p:cNvSpPr txBox="1"/>
          <p:nvPr/>
        </p:nvSpPr>
        <p:spPr>
          <a:xfrm>
            <a:off x="8412480" y="5779008"/>
            <a:ext cx="3566160" cy="246221"/>
          </a:xfrm>
          <a:prstGeom prst="rect">
            <a:avLst/>
          </a:prstGeom>
          <a:noFill/>
        </p:spPr>
        <p:txBody>
          <a:bodyPr wrap="square">
            <a:spAutoFit/>
          </a:bodyPr>
          <a:lstStyle/>
          <a:p>
            <a:pPr algn="l"/>
            <a:r>
              <a:rPr sz="1000" b="0" i="1" dirty="0">
                <a:solidFill>
                  <a:srgbClr val="777777"/>
                </a:solidFill>
                <a:latin typeface="Calibri"/>
              </a:rPr>
              <a:t>OLS </a:t>
            </a:r>
            <a:r>
              <a:rPr sz="1000" b="0" i="1" dirty="0" err="1">
                <a:solidFill>
                  <a:srgbClr val="777777"/>
                </a:solidFill>
                <a:latin typeface="Calibri"/>
              </a:rPr>
              <a:t>minimises</a:t>
            </a:r>
            <a:r>
              <a:rPr sz="1000" b="0" i="1" dirty="0">
                <a:solidFill>
                  <a:srgbClr val="777777"/>
                </a:solidFill>
                <a:latin typeface="Calibri"/>
              </a:rPr>
              <a:t> SSR = Σ(yᵢ – ŷᵢ)²</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9F8F5"/>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461665"/>
          </a:xfrm>
          <a:prstGeom prst="rect">
            <a:avLst/>
          </a:prstGeom>
          <a:noFill/>
        </p:spPr>
        <p:txBody>
          <a:bodyPr wrap="square">
            <a:spAutoFit/>
          </a:bodyPr>
          <a:lstStyle/>
          <a:p>
            <a:pPr algn="l"/>
            <a:r>
              <a:rPr sz="2400" b="1" i="0" u="sng" dirty="0">
                <a:solidFill>
                  <a:srgbClr val="1C2E4A"/>
                </a:solidFill>
                <a:latin typeface="Georgia"/>
              </a:rPr>
              <a:t>Multiple Linear Regression</a:t>
            </a:r>
          </a:p>
        </p:txBody>
      </p:sp>
      <p:pic>
        <p:nvPicPr>
          <p:cNvPr id="5" name="Picture 4" descr="09_coefs.png"/>
          <p:cNvPicPr>
            <a:picLocks noChangeAspect="1"/>
          </p:cNvPicPr>
          <p:nvPr/>
        </p:nvPicPr>
        <p:blipFill>
          <a:blip r:embed="rId2"/>
          <a:stretch>
            <a:fillRect/>
          </a:stretch>
        </p:blipFill>
        <p:spPr>
          <a:xfrm>
            <a:off x="365760" y="1261872"/>
            <a:ext cx="7863840" cy="5257800"/>
          </a:xfrm>
          <a:prstGeom prst="rect">
            <a:avLst/>
          </a:prstGeom>
        </p:spPr>
      </p:pic>
      <p:sp>
        <p:nvSpPr>
          <p:cNvPr id="6" name="TextBox 5"/>
          <p:cNvSpPr txBox="1"/>
          <p:nvPr/>
        </p:nvSpPr>
        <p:spPr>
          <a:xfrm>
            <a:off x="8412480" y="1298448"/>
            <a:ext cx="3566160" cy="323165"/>
          </a:xfrm>
          <a:prstGeom prst="rect">
            <a:avLst/>
          </a:prstGeom>
          <a:noFill/>
        </p:spPr>
        <p:txBody>
          <a:bodyPr wrap="square">
            <a:spAutoFit/>
          </a:bodyPr>
          <a:lstStyle/>
          <a:p>
            <a:pPr algn="l"/>
            <a:r>
              <a:rPr sz="1500" b="1" i="0" dirty="0">
                <a:solidFill>
                  <a:srgbClr val="1C2E4A"/>
                </a:solidFill>
                <a:latin typeface="Georgia"/>
              </a:rPr>
              <a:t>Results</a:t>
            </a:r>
            <a:r>
              <a:rPr lang="en-IN" sz="1500" b="1" i="0" dirty="0">
                <a:solidFill>
                  <a:srgbClr val="1C2E4A"/>
                </a:solidFill>
                <a:latin typeface="Georgia"/>
              </a:rPr>
              <a:t>:</a:t>
            </a:r>
            <a:endParaRPr sz="1500" b="1" i="0" dirty="0">
              <a:solidFill>
                <a:srgbClr val="1C2E4A"/>
              </a:solidFill>
              <a:latin typeface="Georgia"/>
            </a:endParaRPr>
          </a:p>
        </p:txBody>
      </p:sp>
      <p:sp>
        <p:nvSpPr>
          <p:cNvPr id="8" name="TextBox 7"/>
          <p:cNvSpPr txBox="1"/>
          <p:nvPr/>
        </p:nvSpPr>
        <p:spPr>
          <a:xfrm>
            <a:off x="8412480" y="1828800"/>
            <a:ext cx="1828800" cy="320040"/>
          </a:xfrm>
          <a:prstGeom prst="rect">
            <a:avLst/>
          </a:prstGeom>
          <a:noFill/>
        </p:spPr>
        <p:txBody>
          <a:bodyPr wrap="square">
            <a:spAutoFit/>
          </a:bodyPr>
          <a:lstStyle/>
          <a:p>
            <a:pPr algn="l"/>
            <a:r>
              <a:rPr sz="1100" b="0" i="0">
                <a:solidFill>
                  <a:srgbClr val="777777"/>
                </a:solidFill>
                <a:latin typeface="Calibri"/>
              </a:rPr>
              <a:t>Train R²</a:t>
            </a:r>
          </a:p>
        </p:txBody>
      </p:sp>
      <p:sp>
        <p:nvSpPr>
          <p:cNvPr id="9" name="TextBox 8"/>
          <p:cNvSpPr txBox="1"/>
          <p:nvPr/>
        </p:nvSpPr>
        <p:spPr>
          <a:xfrm>
            <a:off x="10241280" y="1828800"/>
            <a:ext cx="1645920" cy="320040"/>
          </a:xfrm>
          <a:prstGeom prst="rect">
            <a:avLst/>
          </a:prstGeom>
          <a:noFill/>
        </p:spPr>
        <p:txBody>
          <a:bodyPr wrap="square">
            <a:spAutoFit/>
          </a:bodyPr>
          <a:lstStyle/>
          <a:p>
            <a:pPr algn="l"/>
            <a:r>
              <a:rPr sz="1100" b="1" i="0">
                <a:solidFill>
                  <a:srgbClr val="1C2E4A"/>
                </a:solidFill>
                <a:latin typeface="Calibri"/>
              </a:rPr>
              <a:t>0.821</a:t>
            </a:r>
          </a:p>
        </p:txBody>
      </p:sp>
      <p:sp>
        <p:nvSpPr>
          <p:cNvPr id="10" name="TextBox 9"/>
          <p:cNvSpPr txBox="1"/>
          <p:nvPr/>
        </p:nvSpPr>
        <p:spPr>
          <a:xfrm>
            <a:off x="8412480" y="2212848"/>
            <a:ext cx="1828800" cy="320040"/>
          </a:xfrm>
          <a:prstGeom prst="rect">
            <a:avLst/>
          </a:prstGeom>
          <a:noFill/>
        </p:spPr>
        <p:txBody>
          <a:bodyPr wrap="square">
            <a:spAutoFit/>
          </a:bodyPr>
          <a:lstStyle/>
          <a:p>
            <a:pPr algn="l"/>
            <a:r>
              <a:rPr sz="1100" b="0" i="0">
                <a:solidFill>
                  <a:srgbClr val="777777"/>
                </a:solidFill>
                <a:latin typeface="Calibri"/>
              </a:rPr>
              <a:t>Test R²</a:t>
            </a:r>
          </a:p>
        </p:txBody>
      </p:sp>
      <p:sp>
        <p:nvSpPr>
          <p:cNvPr id="11" name="TextBox 10"/>
          <p:cNvSpPr txBox="1"/>
          <p:nvPr/>
        </p:nvSpPr>
        <p:spPr>
          <a:xfrm>
            <a:off x="10241280" y="2212848"/>
            <a:ext cx="1645920" cy="320040"/>
          </a:xfrm>
          <a:prstGeom prst="rect">
            <a:avLst/>
          </a:prstGeom>
          <a:noFill/>
        </p:spPr>
        <p:txBody>
          <a:bodyPr wrap="square">
            <a:spAutoFit/>
          </a:bodyPr>
          <a:lstStyle/>
          <a:p>
            <a:pPr algn="l"/>
            <a:r>
              <a:rPr sz="1100" b="1" i="0">
                <a:solidFill>
                  <a:srgbClr val="1C2E4A"/>
                </a:solidFill>
                <a:latin typeface="Calibri"/>
              </a:rPr>
              <a:t>0.802</a:t>
            </a:r>
          </a:p>
        </p:txBody>
      </p:sp>
      <p:sp>
        <p:nvSpPr>
          <p:cNvPr id="15" name="TextBox 14"/>
          <p:cNvSpPr txBox="1"/>
          <p:nvPr/>
        </p:nvSpPr>
        <p:spPr>
          <a:xfrm>
            <a:off x="8412480" y="2778536"/>
            <a:ext cx="3566160" cy="3093154"/>
          </a:xfrm>
          <a:prstGeom prst="rect">
            <a:avLst/>
          </a:prstGeom>
          <a:noFill/>
        </p:spPr>
        <p:txBody>
          <a:bodyPr wrap="square">
            <a:spAutoFit/>
          </a:bodyPr>
          <a:lstStyle/>
          <a:p>
            <a:pPr algn="l"/>
            <a:r>
              <a:rPr sz="1500" b="0" i="0" dirty="0">
                <a:solidFill>
                  <a:srgbClr val="1A1A1A"/>
                </a:solidFill>
                <a:latin typeface="Calibri"/>
              </a:rPr>
              <a:t>Adding nine more predictors drops RMSE from 6.3 to 3.75 years — a meaningful improvement over the single-predictor model.
The dummy variable for Status (Developed = 1, Developing = 0) captures the structural gap between country groups that raw health metrics alone do not fully explain.
Largest positive coefficients: Income composition, Schooling.
Largest negative: Adult Mortality, HIV/AIDS.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9F8F5"/>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461665"/>
          </a:xfrm>
          <a:prstGeom prst="rect">
            <a:avLst/>
          </a:prstGeom>
          <a:noFill/>
        </p:spPr>
        <p:txBody>
          <a:bodyPr wrap="square">
            <a:spAutoFit/>
          </a:bodyPr>
          <a:lstStyle/>
          <a:p>
            <a:pPr algn="l"/>
            <a:r>
              <a:rPr sz="2400" b="1" i="0" u="sng" dirty="0">
                <a:solidFill>
                  <a:srgbClr val="1C2E4A"/>
                </a:solidFill>
                <a:latin typeface="Georgia"/>
              </a:rPr>
              <a:t>Regression Diagnostics</a:t>
            </a:r>
          </a:p>
        </p:txBody>
      </p:sp>
      <p:pic>
        <p:nvPicPr>
          <p:cNvPr id="5" name="Picture 4" descr="04_residuals.png"/>
          <p:cNvPicPr>
            <a:picLocks noChangeAspect="1"/>
          </p:cNvPicPr>
          <p:nvPr/>
        </p:nvPicPr>
        <p:blipFill>
          <a:blip r:embed="rId2"/>
          <a:stretch>
            <a:fillRect/>
          </a:stretch>
        </p:blipFill>
        <p:spPr>
          <a:xfrm>
            <a:off x="365760" y="1261872"/>
            <a:ext cx="7863840" cy="2743200"/>
          </a:xfrm>
          <a:prstGeom prst="rect">
            <a:avLst/>
          </a:prstGeom>
        </p:spPr>
      </p:pic>
      <p:pic>
        <p:nvPicPr>
          <p:cNvPr id="6" name="Picture 5" descr="05_cooks.png"/>
          <p:cNvPicPr>
            <a:picLocks noChangeAspect="1"/>
          </p:cNvPicPr>
          <p:nvPr/>
        </p:nvPicPr>
        <p:blipFill>
          <a:blip r:embed="rId3"/>
          <a:stretch>
            <a:fillRect/>
          </a:stretch>
        </p:blipFill>
        <p:spPr>
          <a:xfrm>
            <a:off x="365760" y="4041648"/>
            <a:ext cx="7863840" cy="2578608"/>
          </a:xfrm>
          <a:prstGeom prst="rect">
            <a:avLst/>
          </a:prstGeom>
        </p:spPr>
      </p:pic>
      <p:sp>
        <p:nvSpPr>
          <p:cNvPr id="7" name="TextBox 6"/>
          <p:cNvSpPr txBox="1"/>
          <p:nvPr/>
        </p:nvSpPr>
        <p:spPr>
          <a:xfrm>
            <a:off x="8412480" y="1298448"/>
            <a:ext cx="3566160" cy="323165"/>
          </a:xfrm>
          <a:prstGeom prst="rect">
            <a:avLst/>
          </a:prstGeom>
          <a:noFill/>
        </p:spPr>
        <p:txBody>
          <a:bodyPr wrap="square">
            <a:spAutoFit/>
          </a:bodyPr>
          <a:lstStyle/>
          <a:p>
            <a:pPr algn="l"/>
            <a:r>
              <a:rPr sz="1500" b="1" i="0" dirty="0">
                <a:solidFill>
                  <a:srgbClr val="1C2E4A"/>
                </a:solidFill>
                <a:latin typeface="Georgia"/>
              </a:rPr>
              <a:t>Residuals vs. fitted</a:t>
            </a:r>
            <a:r>
              <a:rPr lang="en-IN" sz="1500" b="1" i="0" dirty="0">
                <a:solidFill>
                  <a:srgbClr val="1C2E4A"/>
                </a:solidFill>
                <a:latin typeface="Georgia"/>
              </a:rPr>
              <a:t>:</a:t>
            </a:r>
            <a:endParaRPr sz="1500" b="1" i="0" dirty="0">
              <a:solidFill>
                <a:srgbClr val="1C2E4A"/>
              </a:solidFill>
              <a:latin typeface="Georgia"/>
            </a:endParaRPr>
          </a:p>
        </p:txBody>
      </p:sp>
      <p:sp>
        <p:nvSpPr>
          <p:cNvPr id="8" name="TextBox 7"/>
          <p:cNvSpPr txBox="1"/>
          <p:nvPr/>
        </p:nvSpPr>
        <p:spPr>
          <a:xfrm>
            <a:off x="8412480" y="1627632"/>
            <a:ext cx="3566160" cy="1015663"/>
          </a:xfrm>
          <a:prstGeom prst="rect">
            <a:avLst/>
          </a:prstGeom>
          <a:noFill/>
        </p:spPr>
        <p:txBody>
          <a:bodyPr wrap="square">
            <a:spAutoFit/>
          </a:bodyPr>
          <a:lstStyle/>
          <a:p>
            <a:pPr algn="l"/>
            <a:r>
              <a:rPr sz="1500" b="0" i="0" dirty="0">
                <a:solidFill>
                  <a:srgbClr val="1A1A1A"/>
                </a:solidFill>
                <a:latin typeface="Calibri"/>
              </a:rPr>
              <a:t>No obvious funnel pattern — variance is reasonably constant across the fitted range. A few outliers visible, particularly near the low end.</a:t>
            </a:r>
          </a:p>
        </p:txBody>
      </p:sp>
      <p:sp>
        <p:nvSpPr>
          <p:cNvPr id="9" name="TextBox 8"/>
          <p:cNvSpPr txBox="1"/>
          <p:nvPr/>
        </p:nvSpPr>
        <p:spPr>
          <a:xfrm>
            <a:off x="8412480" y="2787976"/>
            <a:ext cx="3566160" cy="323165"/>
          </a:xfrm>
          <a:prstGeom prst="rect">
            <a:avLst/>
          </a:prstGeom>
          <a:noFill/>
        </p:spPr>
        <p:txBody>
          <a:bodyPr wrap="square">
            <a:spAutoFit/>
          </a:bodyPr>
          <a:lstStyle/>
          <a:p>
            <a:pPr algn="l"/>
            <a:r>
              <a:rPr sz="1500" b="1" i="0" dirty="0">
                <a:solidFill>
                  <a:srgbClr val="1C2E4A"/>
                </a:solidFill>
                <a:latin typeface="Georgia"/>
              </a:rPr>
              <a:t>Q-Q plot</a:t>
            </a:r>
            <a:r>
              <a:rPr lang="en-IN" sz="1500" b="1" dirty="0">
                <a:solidFill>
                  <a:srgbClr val="1C2E4A"/>
                </a:solidFill>
                <a:latin typeface="Georgia"/>
              </a:rPr>
              <a:t>:</a:t>
            </a:r>
            <a:endParaRPr sz="1500" b="1" i="0" dirty="0">
              <a:solidFill>
                <a:srgbClr val="1C2E4A"/>
              </a:solidFill>
              <a:latin typeface="Georgia"/>
            </a:endParaRPr>
          </a:p>
        </p:txBody>
      </p:sp>
      <p:sp>
        <p:nvSpPr>
          <p:cNvPr id="10" name="TextBox 9"/>
          <p:cNvSpPr txBox="1"/>
          <p:nvPr/>
        </p:nvSpPr>
        <p:spPr>
          <a:xfrm>
            <a:off x="8412480" y="3188362"/>
            <a:ext cx="3566160" cy="1015663"/>
          </a:xfrm>
          <a:prstGeom prst="rect">
            <a:avLst/>
          </a:prstGeom>
          <a:noFill/>
        </p:spPr>
        <p:txBody>
          <a:bodyPr wrap="square">
            <a:spAutoFit/>
          </a:bodyPr>
          <a:lstStyle/>
          <a:p>
            <a:pPr algn="l"/>
            <a:r>
              <a:rPr sz="1500" b="0" i="0" dirty="0">
                <a:solidFill>
                  <a:srgbClr val="1A1A1A"/>
                </a:solidFill>
                <a:latin typeface="Calibri"/>
              </a:rPr>
              <a:t>Residuals follow the normal line closely in the middle. Tails deviate slightly, which is typical for health data at this scale. Not a concern for n = 1,649.</a:t>
            </a:r>
          </a:p>
        </p:txBody>
      </p:sp>
      <p:sp>
        <p:nvSpPr>
          <p:cNvPr id="12" name="TextBox 11"/>
          <p:cNvSpPr txBox="1"/>
          <p:nvPr/>
        </p:nvSpPr>
        <p:spPr>
          <a:xfrm>
            <a:off x="8412480" y="4266891"/>
            <a:ext cx="3566160" cy="323165"/>
          </a:xfrm>
          <a:prstGeom prst="rect">
            <a:avLst/>
          </a:prstGeom>
          <a:noFill/>
        </p:spPr>
        <p:txBody>
          <a:bodyPr wrap="square">
            <a:spAutoFit/>
          </a:bodyPr>
          <a:lstStyle/>
          <a:p>
            <a:pPr algn="l"/>
            <a:r>
              <a:rPr sz="1500" b="1" i="0" dirty="0">
                <a:solidFill>
                  <a:srgbClr val="1C2E4A"/>
                </a:solidFill>
                <a:latin typeface="Georgia"/>
              </a:rPr>
              <a:t>Cook's Distance</a:t>
            </a:r>
            <a:r>
              <a:rPr lang="en-IN" sz="1500" b="1" i="0" dirty="0">
                <a:solidFill>
                  <a:srgbClr val="1C2E4A"/>
                </a:solidFill>
                <a:latin typeface="Georgia"/>
              </a:rPr>
              <a:t>:</a:t>
            </a:r>
            <a:endParaRPr sz="1500" b="1" i="0" dirty="0">
              <a:solidFill>
                <a:srgbClr val="1C2E4A"/>
              </a:solidFill>
              <a:latin typeface="Georgia"/>
            </a:endParaRPr>
          </a:p>
        </p:txBody>
      </p:sp>
      <p:sp>
        <p:nvSpPr>
          <p:cNvPr id="13" name="TextBox 12"/>
          <p:cNvSpPr txBox="1"/>
          <p:nvPr/>
        </p:nvSpPr>
        <p:spPr>
          <a:xfrm>
            <a:off x="8412480" y="4590056"/>
            <a:ext cx="3566160" cy="1938992"/>
          </a:xfrm>
          <a:prstGeom prst="rect">
            <a:avLst/>
          </a:prstGeom>
          <a:noFill/>
        </p:spPr>
        <p:txBody>
          <a:bodyPr wrap="square">
            <a:spAutoFit/>
          </a:bodyPr>
          <a:lstStyle/>
          <a:p>
            <a:pPr algn="l"/>
            <a:r>
              <a:rPr sz="1500" b="0" i="0" dirty="0">
                <a:solidFill>
                  <a:srgbClr val="1A1A1A"/>
                </a:solidFill>
                <a:latin typeface="Calibri"/>
              </a:rPr>
              <a:t>Identifies observations that disproportionately pull the fitted line. Threshold: 4/n ≈ 0.0024.
Several small island nations — with unusual demographic profiles relative to their size — flag as influential. We keep them in: they represent real variation, not data errors.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9F8F5"/>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461665"/>
          </a:xfrm>
          <a:prstGeom prst="rect">
            <a:avLst/>
          </a:prstGeom>
          <a:noFill/>
        </p:spPr>
        <p:txBody>
          <a:bodyPr wrap="square">
            <a:spAutoFit/>
          </a:bodyPr>
          <a:lstStyle/>
          <a:p>
            <a:pPr algn="l"/>
            <a:r>
              <a:rPr sz="2400" b="1" i="0" u="sng" dirty="0">
                <a:solidFill>
                  <a:srgbClr val="1C2E4A"/>
                </a:solidFill>
                <a:latin typeface="Georgia"/>
              </a:rPr>
              <a:t>Bias–Variance Tradeoff &amp; KNN Regression</a:t>
            </a:r>
          </a:p>
        </p:txBody>
      </p:sp>
      <p:pic>
        <p:nvPicPr>
          <p:cNvPr id="4" name="Picture 3" descr="10_bias_variance.png"/>
          <p:cNvPicPr>
            <a:picLocks noChangeAspect="1"/>
          </p:cNvPicPr>
          <p:nvPr/>
        </p:nvPicPr>
        <p:blipFill>
          <a:blip r:embed="rId2"/>
          <a:stretch>
            <a:fillRect/>
          </a:stretch>
        </p:blipFill>
        <p:spPr>
          <a:xfrm>
            <a:off x="365760" y="1261872"/>
            <a:ext cx="5669280" cy="2788920"/>
          </a:xfrm>
          <a:prstGeom prst="rect">
            <a:avLst/>
          </a:prstGeom>
        </p:spPr>
      </p:pic>
      <p:pic>
        <p:nvPicPr>
          <p:cNvPr id="5" name="Picture 4" descr="06_knn.png"/>
          <p:cNvPicPr>
            <a:picLocks noChangeAspect="1"/>
          </p:cNvPicPr>
          <p:nvPr/>
        </p:nvPicPr>
        <p:blipFill>
          <a:blip r:embed="rId3"/>
          <a:stretch>
            <a:fillRect/>
          </a:stretch>
        </p:blipFill>
        <p:spPr>
          <a:xfrm>
            <a:off x="6217920" y="1261872"/>
            <a:ext cx="5623560" cy="2788920"/>
          </a:xfrm>
          <a:prstGeom prst="rect">
            <a:avLst/>
          </a:prstGeom>
        </p:spPr>
      </p:pic>
      <p:sp>
        <p:nvSpPr>
          <p:cNvPr id="7" name="TextBox 6"/>
          <p:cNvSpPr txBox="1"/>
          <p:nvPr/>
        </p:nvSpPr>
        <p:spPr>
          <a:xfrm>
            <a:off x="365760" y="4251960"/>
            <a:ext cx="11457432" cy="1477328"/>
          </a:xfrm>
          <a:prstGeom prst="rect">
            <a:avLst/>
          </a:prstGeom>
          <a:noFill/>
        </p:spPr>
        <p:txBody>
          <a:bodyPr wrap="square">
            <a:spAutoFit/>
          </a:bodyPr>
          <a:lstStyle/>
          <a:p>
            <a:pPr algn="l"/>
            <a:r>
              <a:rPr sz="1500" b="0" i="0" dirty="0">
                <a:solidFill>
                  <a:srgbClr val="1A1A1A"/>
                </a:solidFill>
                <a:latin typeface="Calibri"/>
              </a:rPr>
              <a:t>At low k, the model is essentially </a:t>
            </a:r>
            <a:r>
              <a:rPr sz="1500" b="0" i="0" dirty="0" err="1">
                <a:solidFill>
                  <a:srgbClr val="1A1A1A"/>
                </a:solidFill>
                <a:latin typeface="Calibri"/>
              </a:rPr>
              <a:t>memorising</a:t>
            </a:r>
            <a:r>
              <a:rPr sz="1500" b="0" i="0" dirty="0">
                <a:solidFill>
                  <a:srgbClr val="1A1A1A"/>
                </a:solidFill>
                <a:latin typeface="Calibri"/>
              </a:rPr>
              <a:t> the training data — train R² is near 1.0 but test performance is poor. As k increases, both curves converge but we start to underfit. The sweet spot is around k = 6 or 7, where test R² peaks at roughly 0.91. Beyond that, averaging over more and more </a:t>
            </a:r>
            <a:r>
              <a:rPr sz="1500" b="0" i="0" dirty="0" err="1">
                <a:solidFill>
                  <a:srgbClr val="1A1A1A"/>
                </a:solidFill>
                <a:latin typeface="Calibri"/>
              </a:rPr>
              <a:t>neighbours</a:t>
            </a:r>
            <a:r>
              <a:rPr sz="1500" b="0" i="0" dirty="0">
                <a:solidFill>
                  <a:srgbClr val="1A1A1A"/>
                </a:solidFill>
                <a:latin typeface="Calibri"/>
              </a:rPr>
              <a:t> loses the local structure that makes KNN useful.
KNN at k = 7 gives test R² ≈ 0.91, slightly better than the 0.80 from MLR — but at the cost of interpretability. There is no coefficient to report, no significance test, no way to say "schooling matters by X units."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9F8F5"/>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461665"/>
          </a:xfrm>
          <a:prstGeom prst="rect">
            <a:avLst/>
          </a:prstGeom>
          <a:noFill/>
        </p:spPr>
        <p:txBody>
          <a:bodyPr wrap="square">
            <a:spAutoFit/>
          </a:bodyPr>
          <a:lstStyle/>
          <a:p>
            <a:pPr algn="l"/>
            <a:r>
              <a:rPr sz="2400" b="1" i="0" u="sng" dirty="0">
                <a:solidFill>
                  <a:srgbClr val="1C2E4A"/>
                </a:solidFill>
                <a:latin typeface="Georgia"/>
              </a:rPr>
              <a:t>Binary Logistic Regression</a:t>
            </a:r>
          </a:p>
        </p:txBody>
      </p:sp>
      <p:pic>
        <p:nvPicPr>
          <p:cNvPr id="5" name="Picture 4" descr="07_logistic.png"/>
          <p:cNvPicPr>
            <a:picLocks noChangeAspect="1"/>
          </p:cNvPicPr>
          <p:nvPr/>
        </p:nvPicPr>
        <p:blipFill>
          <a:blip r:embed="rId2"/>
          <a:stretch>
            <a:fillRect/>
          </a:stretch>
        </p:blipFill>
        <p:spPr>
          <a:xfrm>
            <a:off x="365760" y="1261872"/>
            <a:ext cx="8138160" cy="5257800"/>
          </a:xfrm>
          <a:prstGeom prst="rect">
            <a:avLst/>
          </a:prstGeom>
        </p:spPr>
      </p:pic>
      <p:sp>
        <p:nvSpPr>
          <p:cNvPr id="6" name="TextBox 5"/>
          <p:cNvSpPr txBox="1"/>
          <p:nvPr/>
        </p:nvSpPr>
        <p:spPr>
          <a:xfrm>
            <a:off x="8686800" y="1298448"/>
            <a:ext cx="3291840" cy="323165"/>
          </a:xfrm>
          <a:prstGeom prst="rect">
            <a:avLst/>
          </a:prstGeom>
          <a:noFill/>
        </p:spPr>
        <p:txBody>
          <a:bodyPr wrap="square">
            <a:spAutoFit/>
          </a:bodyPr>
          <a:lstStyle/>
          <a:p>
            <a:pPr algn="l"/>
            <a:r>
              <a:rPr sz="1500" b="1" i="0" dirty="0">
                <a:solidFill>
                  <a:srgbClr val="1C2E4A"/>
                </a:solidFill>
                <a:latin typeface="Georgia"/>
              </a:rPr>
              <a:t>Model</a:t>
            </a:r>
            <a:r>
              <a:rPr lang="en-IN" sz="1500" b="1" i="0" dirty="0">
                <a:solidFill>
                  <a:srgbClr val="1C2E4A"/>
                </a:solidFill>
                <a:latin typeface="Georgia"/>
              </a:rPr>
              <a:t>:</a:t>
            </a:r>
            <a:endParaRPr sz="1500" b="1" i="0" dirty="0">
              <a:solidFill>
                <a:srgbClr val="1C2E4A"/>
              </a:solidFill>
              <a:latin typeface="Georgia"/>
            </a:endParaRPr>
          </a:p>
        </p:txBody>
      </p:sp>
      <p:sp>
        <p:nvSpPr>
          <p:cNvPr id="8" name="TextBox 7"/>
          <p:cNvSpPr txBox="1"/>
          <p:nvPr/>
        </p:nvSpPr>
        <p:spPr>
          <a:xfrm>
            <a:off x="8686800" y="1810512"/>
            <a:ext cx="3291840" cy="323165"/>
          </a:xfrm>
          <a:prstGeom prst="rect">
            <a:avLst/>
          </a:prstGeom>
          <a:noFill/>
        </p:spPr>
        <p:txBody>
          <a:bodyPr wrap="square">
            <a:spAutoFit/>
          </a:bodyPr>
          <a:lstStyle/>
          <a:p>
            <a:pPr algn="l"/>
            <a:r>
              <a:rPr sz="1500" b="0" i="1" dirty="0">
                <a:solidFill>
                  <a:srgbClr val="1C2E4A"/>
                </a:solidFill>
                <a:latin typeface="Georgia"/>
              </a:rPr>
              <a:t>log( p / 1−p )  =  Xβ</a:t>
            </a:r>
          </a:p>
        </p:txBody>
      </p:sp>
      <p:sp>
        <p:nvSpPr>
          <p:cNvPr id="9" name="TextBox 8"/>
          <p:cNvSpPr txBox="1"/>
          <p:nvPr/>
        </p:nvSpPr>
        <p:spPr>
          <a:xfrm>
            <a:off x="8686800" y="2212848"/>
            <a:ext cx="3291840" cy="784830"/>
          </a:xfrm>
          <a:prstGeom prst="rect">
            <a:avLst/>
          </a:prstGeom>
          <a:noFill/>
        </p:spPr>
        <p:txBody>
          <a:bodyPr wrap="square">
            <a:spAutoFit/>
          </a:bodyPr>
          <a:lstStyle/>
          <a:p>
            <a:pPr algn="l"/>
            <a:r>
              <a:rPr sz="1500" b="0" i="0" dirty="0">
                <a:solidFill>
                  <a:srgbClr val="1A1A1A"/>
                </a:solidFill>
                <a:latin typeface="Calibri"/>
              </a:rPr>
              <a:t>where p = P(Developed | X). Fitted by maximum likelihood; coefficients are log-odds ratios.</a:t>
            </a:r>
          </a:p>
        </p:txBody>
      </p:sp>
      <p:sp>
        <p:nvSpPr>
          <p:cNvPr id="11" name="TextBox 10"/>
          <p:cNvSpPr txBox="1"/>
          <p:nvPr/>
        </p:nvSpPr>
        <p:spPr>
          <a:xfrm>
            <a:off x="8686800" y="3090672"/>
            <a:ext cx="1920240" cy="320040"/>
          </a:xfrm>
          <a:prstGeom prst="rect">
            <a:avLst/>
          </a:prstGeom>
          <a:noFill/>
        </p:spPr>
        <p:txBody>
          <a:bodyPr wrap="square">
            <a:spAutoFit/>
          </a:bodyPr>
          <a:lstStyle/>
          <a:p>
            <a:pPr algn="l"/>
            <a:r>
              <a:rPr sz="1100" b="0" i="0">
                <a:solidFill>
                  <a:srgbClr val="777777"/>
                </a:solidFill>
                <a:latin typeface="Calibri"/>
              </a:rPr>
              <a:t>Accuracy</a:t>
            </a:r>
          </a:p>
        </p:txBody>
      </p:sp>
      <p:sp>
        <p:nvSpPr>
          <p:cNvPr id="12" name="TextBox 11"/>
          <p:cNvSpPr txBox="1"/>
          <p:nvPr/>
        </p:nvSpPr>
        <p:spPr>
          <a:xfrm>
            <a:off x="10607040" y="3090672"/>
            <a:ext cx="1188720" cy="320040"/>
          </a:xfrm>
          <a:prstGeom prst="rect">
            <a:avLst/>
          </a:prstGeom>
          <a:noFill/>
        </p:spPr>
        <p:txBody>
          <a:bodyPr wrap="square">
            <a:spAutoFit/>
          </a:bodyPr>
          <a:lstStyle/>
          <a:p>
            <a:pPr algn="l"/>
            <a:r>
              <a:rPr sz="1100" b="1" i="0">
                <a:solidFill>
                  <a:srgbClr val="2A5FA8"/>
                </a:solidFill>
                <a:latin typeface="Calibri"/>
              </a:rPr>
              <a:t>90.6 %</a:t>
            </a:r>
          </a:p>
        </p:txBody>
      </p:sp>
      <p:sp>
        <p:nvSpPr>
          <p:cNvPr id="13" name="TextBox 12"/>
          <p:cNvSpPr txBox="1"/>
          <p:nvPr/>
        </p:nvSpPr>
        <p:spPr>
          <a:xfrm>
            <a:off x="8686800" y="3474720"/>
            <a:ext cx="1920240" cy="320040"/>
          </a:xfrm>
          <a:prstGeom prst="rect">
            <a:avLst/>
          </a:prstGeom>
          <a:noFill/>
        </p:spPr>
        <p:txBody>
          <a:bodyPr wrap="square">
            <a:spAutoFit/>
          </a:bodyPr>
          <a:lstStyle/>
          <a:p>
            <a:pPr algn="l"/>
            <a:r>
              <a:rPr sz="1100" b="0" i="0">
                <a:solidFill>
                  <a:srgbClr val="777777"/>
                </a:solidFill>
                <a:latin typeface="Calibri"/>
              </a:rPr>
              <a:t>Precision</a:t>
            </a:r>
          </a:p>
        </p:txBody>
      </p:sp>
      <p:sp>
        <p:nvSpPr>
          <p:cNvPr id="14" name="TextBox 13"/>
          <p:cNvSpPr txBox="1"/>
          <p:nvPr/>
        </p:nvSpPr>
        <p:spPr>
          <a:xfrm>
            <a:off x="10607040" y="3474720"/>
            <a:ext cx="1188720" cy="320040"/>
          </a:xfrm>
          <a:prstGeom prst="rect">
            <a:avLst/>
          </a:prstGeom>
          <a:noFill/>
        </p:spPr>
        <p:txBody>
          <a:bodyPr wrap="square">
            <a:spAutoFit/>
          </a:bodyPr>
          <a:lstStyle/>
          <a:p>
            <a:pPr algn="l"/>
            <a:r>
              <a:rPr sz="1100" b="1" i="0">
                <a:solidFill>
                  <a:srgbClr val="2A5FA8"/>
                </a:solidFill>
                <a:latin typeface="Calibri"/>
              </a:rPr>
              <a:t>87.4 %</a:t>
            </a:r>
          </a:p>
        </p:txBody>
      </p:sp>
      <p:sp>
        <p:nvSpPr>
          <p:cNvPr id="15" name="TextBox 14"/>
          <p:cNvSpPr txBox="1"/>
          <p:nvPr/>
        </p:nvSpPr>
        <p:spPr>
          <a:xfrm>
            <a:off x="8686800" y="3858768"/>
            <a:ext cx="1920240" cy="320040"/>
          </a:xfrm>
          <a:prstGeom prst="rect">
            <a:avLst/>
          </a:prstGeom>
          <a:noFill/>
        </p:spPr>
        <p:txBody>
          <a:bodyPr wrap="square">
            <a:spAutoFit/>
          </a:bodyPr>
          <a:lstStyle/>
          <a:p>
            <a:pPr algn="l"/>
            <a:r>
              <a:rPr sz="1100" b="0" i="0">
                <a:solidFill>
                  <a:srgbClr val="777777"/>
                </a:solidFill>
                <a:latin typeface="Calibri"/>
              </a:rPr>
              <a:t>Recall</a:t>
            </a:r>
          </a:p>
        </p:txBody>
      </p:sp>
      <p:sp>
        <p:nvSpPr>
          <p:cNvPr id="16" name="TextBox 15"/>
          <p:cNvSpPr txBox="1"/>
          <p:nvPr/>
        </p:nvSpPr>
        <p:spPr>
          <a:xfrm>
            <a:off x="10607040" y="3858768"/>
            <a:ext cx="1188720" cy="320040"/>
          </a:xfrm>
          <a:prstGeom prst="rect">
            <a:avLst/>
          </a:prstGeom>
          <a:noFill/>
        </p:spPr>
        <p:txBody>
          <a:bodyPr wrap="square">
            <a:spAutoFit/>
          </a:bodyPr>
          <a:lstStyle/>
          <a:p>
            <a:pPr algn="l"/>
            <a:r>
              <a:rPr sz="1100" b="1" i="0">
                <a:solidFill>
                  <a:srgbClr val="2A5FA8"/>
                </a:solidFill>
                <a:latin typeface="Calibri"/>
              </a:rPr>
              <a:t>76.2 %</a:t>
            </a:r>
          </a:p>
        </p:txBody>
      </p:sp>
      <p:sp>
        <p:nvSpPr>
          <p:cNvPr id="17" name="TextBox 16"/>
          <p:cNvSpPr txBox="1"/>
          <p:nvPr/>
        </p:nvSpPr>
        <p:spPr>
          <a:xfrm>
            <a:off x="8686800" y="4242816"/>
            <a:ext cx="1920240" cy="320040"/>
          </a:xfrm>
          <a:prstGeom prst="rect">
            <a:avLst/>
          </a:prstGeom>
          <a:noFill/>
        </p:spPr>
        <p:txBody>
          <a:bodyPr wrap="square">
            <a:spAutoFit/>
          </a:bodyPr>
          <a:lstStyle/>
          <a:p>
            <a:pPr algn="l"/>
            <a:r>
              <a:rPr sz="1100" b="0" i="0">
                <a:solidFill>
                  <a:srgbClr val="777777"/>
                </a:solidFill>
                <a:latin typeface="Calibri"/>
              </a:rPr>
              <a:t>F1</a:t>
            </a:r>
          </a:p>
        </p:txBody>
      </p:sp>
      <p:sp>
        <p:nvSpPr>
          <p:cNvPr id="18" name="TextBox 17"/>
          <p:cNvSpPr txBox="1"/>
          <p:nvPr/>
        </p:nvSpPr>
        <p:spPr>
          <a:xfrm>
            <a:off x="10607040" y="4242816"/>
            <a:ext cx="1188720" cy="320040"/>
          </a:xfrm>
          <a:prstGeom prst="rect">
            <a:avLst/>
          </a:prstGeom>
          <a:noFill/>
        </p:spPr>
        <p:txBody>
          <a:bodyPr wrap="square">
            <a:spAutoFit/>
          </a:bodyPr>
          <a:lstStyle/>
          <a:p>
            <a:pPr algn="l"/>
            <a:r>
              <a:rPr sz="1100" b="1" i="0">
                <a:solidFill>
                  <a:srgbClr val="2A5FA8"/>
                </a:solidFill>
                <a:latin typeface="Calibri"/>
              </a:rPr>
              <a:t>81.5 %</a:t>
            </a:r>
          </a:p>
        </p:txBody>
      </p:sp>
      <p:sp>
        <p:nvSpPr>
          <p:cNvPr id="20" name="TextBox 19"/>
          <p:cNvSpPr txBox="1"/>
          <p:nvPr/>
        </p:nvSpPr>
        <p:spPr>
          <a:xfrm>
            <a:off x="8686800" y="4809744"/>
            <a:ext cx="3291840" cy="1371600"/>
          </a:xfrm>
          <a:prstGeom prst="rect">
            <a:avLst/>
          </a:prstGeom>
          <a:noFill/>
        </p:spPr>
        <p:txBody>
          <a:bodyPr wrap="square">
            <a:spAutoFit/>
          </a:bodyPr>
          <a:lstStyle/>
          <a:p>
            <a:pPr algn="l"/>
            <a:r>
              <a:rPr sz="1100" b="0" i="1">
                <a:solidFill>
                  <a:srgbClr val="777777"/>
                </a:solidFill>
                <a:latin typeface="Calibri"/>
              </a:rPr>
              <a:t>Income composition and Schooling push strongly toward Developed. Adult Mortality and HIV/AIDS push toward Developing. The coefficient plot on the left makes this visible.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9F8F5"/>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461665"/>
          </a:xfrm>
          <a:prstGeom prst="rect">
            <a:avLst/>
          </a:prstGeom>
          <a:noFill/>
        </p:spPr>
        <p:txBody>
          <a:bodyPr wrap="square">
            <a:spAutoFit/>
          </a:bodyPr>
          <a:lstStyle/>
          <a:p>
            <a:pPr algn="l"/>
            <a:r>
              <a:rPr sz="2400" b="1" i="0" u="sng" dirty="0">
                <a:solidFill>
                  <a:srgbClr val="1C2E4A"/>
                </a:solidFill>
                <a:latin typeface="Georgia"/>
              </a:rPr>
              <a:t>Multi-Category Logistic Regression</a:t>
            </a:r>
          </a:p>
        </p:txBody>
      </p:sp>
      <p:sp>
        <p:nvSpPr>
          <p:cNvPr id="5" name="TextBox 4"/>
          <p:cNvSpPr txBox="1"/>
          <p:nvPr/>
        </p:nvSpPr>
        <p:spPr>
          <a:xfrm>
            <a:off x="457200" y="1298448"/>
            <a:ext cx="5486400" cy="320040"/>
          </a:xfrm>
          <a:prstGeom prst="rect">
            <a:avLst/>
          </a:prstGeom>
          <a:noFill/>
        </p:spPr>
        <p:txBody>
          <a:bodyPr wrap="square">
            <a:spAutoFit/>
          </a:bodyPr>
          <a:lstStyle/>
          <a:p>
            <a:pPr algn="l"/>
            <a:r>
              <a:rPr sz="1500" b="1" i="0" dirty="0">
                <a:solidFill>
                  <a:srgbClr val="1C2E4A"/>
                </a:solidFill>
                <a:latin typeface="Georgia"/>
              </a:rPr>
              <a:t>Setup</a:t>
            </a:r>
            <a:r>
              <a:rPr lang="en-IN" sz="1500" b="1" i="0" dirty="0">
                <a:solidFill>
                  <a:srgbClr val="1C2E4A"/>
                </a:solidFill>
                <a:latin typeface="Georgia"/>
              </a:rPr>
              <a:t>:</a:t>
            </a:r>
            <a:endParaRPr sz="1500" b="1" i="0" dirty="0">
              <a:solidFill>
                <a:srgbClr val="1C2E4A"/>
              </a:solidFill>
              <a:latin typeface="Georgia"/>
            </a:endParaRPr>
          </a:p>
        </p:txBody>
      </p:sp>
      <p:sp>
        <p:nvSpPr>
          <p:cNvPr id="7" name="TextBox 6"/>
          <p:cNvSpPr txBox="1"/>
          <p:nvPr/>
        </p:nvSpPr>
        <p:spPr>
          <a:xfrm>
            <a:off x="457200" y="1783080"/>
            <a:ext cx="5486400" cy="1938992"/>
          </a:xfrm>
          <a:prstGeom prst="rect">
            <a:avLst/>
          </a:prstGeom>
          <a:noFill/>
        </p:spPr>
        <p:txBody>
          <a:bodyPr wrap="square">
            <a:spAutoFit/>
          </a:bodyPr>
          <a:lstStyle/>
          <a:p>
            <a:pPr algn="l"/>
            <a:r>
              <a:rPr sz="1500" b="0" i="0" dirty="0">
                <a:solidFill>
                  <a:srgbClr val="1A1A1A"/>
                </a:solidFill>
                <a:latin typeface="Calibri"/>
              </a:rPr>
              <a:t>We split life expectancy into three ordered groups:
    Low    — below 65 years
    Medium — 65 to 75 years
    High   — above 75 years
Two approaches were compared: One-vs-Rest (</a:t>
            </a:r>
            <a:r>
              <a:rPr sz="1500" b="0" i="0" dirty="0" err="1">
                <a:solidFill>
                  <a:srgbClr val="1A1A1A"/>
                </a:solidFill>
                <a:latin typeface="Calibri"/>
              </a:rPr>
              <a:t>OvR</a:t>
            </a:r>
            <a:r>
              <a:rPr sz="1500" b="0" i="0" dirty="0">
                <a:solidFill>
                  <a:srgbClr val="1A1A1A"/>
                </a:solidFill>
                <a:latin typeface="Calibri"/>
              </a:rPr>
              <a:t>), which trains three separate binary classifiers, and multinomial logistic, which estimates all classes simultaneously via </a:t>
            </a:r>
            <a:r>
              <a:rPr sz="1500" b="0" i="0" dirty="0" err="1">
                <a:solidFill>
                  <a:srgbClr val="1A1A1A"/>
                </a:solidFill>
                <a:latin typeface="Calibri"/>
              </a:rPr>
              <a:t>softmax</a:t>
            </a:r>
            <a:r>
              <a:rPr sz="1500" b="0" i="0" dirty="0">
                <a:solidFill>
                  <a:srgbClr val="1A1A1A"/>
                </a:solidFill>
                <a:latin typeface="Calibri"/>
              </a:rPr>
              <a:t>.</a:t>
            </a:r>
          </a:p>
        </p:txBody>
      </p:sp>
      <p:sp>
        <p:nvSpPr>
          <p:cNvPr id="8" name="TextBox 7"/>
          <p:cNvSpPr txBox="1"/>
          <p:nvPr/>
        </p:nvSpPr>
        <p:spPr>
          <a:xfrm>
            <a:off x="457200" y="4297680"/>
            <a:ext cx="5486400" cy="320040"/>
          </a:xfrm>
          <a:prstGeom prst="rect">
            <a:avLst/>
          </a:prstGeom>
          <a:noFill/>
        </p:spPr>
        <p:txBody>
          <a:bodyPr wrap="square">
            <a:spAutoFit/>
          </a:bodyPr>
          <a:lstStyle/>
          <a:p>
            <a:pPr algn="l"/>
            <a:r>
              <a:rPr sz="1500" b="1" i="0" dirty="0" err="1">
                <a:solidFill>
                  <a:srgbClr val="1C2E4A"/>
                </a:solidFill>
                <a:latin typeface="Georgia"/>
              </a:rPr>
              <a:t>Softmax</a:t>
            </a:r>
            <a:r>
              <a:rPr sz="1500" b="1" i="0" dirty="0">
                <a:solidFill>
                  <a:srgbClr val="1C2E4A"/>
                </a:solidFill>
                <a:latin typeface="Georgia"/>
              </a:rPr>
              <a:t> probability (multinomial)</a:t>
            </a:r>
            <a:r>
              <a:rPr lang="en-IN" sz="1500" b="1" i="0" dirty="0">
                <a:solidFill>
                  <a:srgbClr val="1C2E4A"/>
                </a:solidFill>
                <a:latin typeface="Georgia"/>
              </a:rPr>
              <a:t>:</a:t>
            </a:r>
            <a:endParaRPr sz="1500" b="1" i="0" dirty="0">
              <a:solidFill>
                <a:srgbClr val="1C2E4A"/>
              </a:solidFill>
              <a:latin typeface="Georgia"/>
            </a:endParaRPr>
          </a:p>
        </p:txBody>
      </p:sp>
      <p:sp>
        <p:nvSpPr>
          <p:cNvPr id="10" name="TextBox 9"/>
          <p:cNvSpPr txBox="1"/>
          <p:nvPr/>
        </p:nvSpPr>
        <p:spPr>
          <a:xfrm>
            <a:off x="457200" y="4773168"/>
            <a:ext cx="5486400" cy="323165"/>
          </a:xfrm>
          <a:prstGeom prst="rect">
            <a:avLst/>
          </a:prstGeom>
          <a:noFill/>
        </p:spPr>
        <p:txBody>
          <a:bodyPr wrap="square">
            <a:spAutoFit/>
          </a:bodyPr>
          <a:lstStyle/>
          <a:p>
            <a:pPr algn="l"/>
            <a:r>
              <a:rPr sz="1500" b="0" i="1" dirty="0">
                <a:solidFill>
                  <a:srgbClr val="1C2E4A"/>
                </a:solidFill>
                <a:latin typeface="Georgia"/>
              </a:rPr>
              <a:t>P(y = k | X)  =  exp(Xβₖ)  /  Σⱼ exp(Xβⱼ)</a:t>
            </a:r>
          </a:p>
        </p:txBody>
      </p:sp>
      <p:sp>
        <p:nvSpPr>
          <p:cNvPr id="11" name="TextBox 10"/>
          <p:cNvSpPr txBox="1"/>
          <p:nvPr/>
        </p:nvSpPr>
        <p:spPr>
          <a:xfrm>
            <a:off x="457200" y="5193792"/>
            <a:ext cx="5486400" cy="553998"/>
          </a:xfrm>
          <a:prstGeom prst="rect">
            <a:avLst/>
          </a:prstGeom>
          <a:noFill/>
        </p:spPr>
        <p:txBody>
          <a:bodyPr wrap="square">
            <a:spAutoFit/>
          </a:bodyPr>
          <a:lstStyle/>
          <a:p>
            <a:pPr algn="l"/>
            <a:r>
              <a:rPr sz="1500" b="0" i="0" dirty="0">
                <a:solidFill>
                  <a:srgbClr val="1A1A1A"/>
                </a:solidFill>
                <a:latin typeface="Calibri"/>
              </a:rPr>
              <a:t>Each observation is assigned to the class with the highest posterior probability.</a:t>
            </a:r>
          </a:p>
        </p:txBody>
      </p:sp>
      <p:sp>
        <p:nvSpPr>
          <p:cNvPr id="12" name="Rectangle 11"/>
          <p:cNvSpPr/>
          <p:nvPr/>
        </p:nvSpPr>
        <p:spPr>
          <a:xfrm>
            <a:off x="6126480" y="1261872"/>
            <a:ext cx="13716" cy="109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1298448"/>
            <a:ext cx="5394960" cy="320040"/>
          </a:xfrm>
          <a:prstGeom prst="rect">
            <a:avLst/>
          </a:prstGeom>
          <a:noFill/>
        </p:spPr>
        <p:txBody>
          <a:bodyPr wrap="square">
            <a:spAutoFit/>
          </a:bodyPr>
          <a:lstStyle/>
          <a:p>
            <a:pPr algn="l"/>
            <a:r>
              <a:rPr sz="1500" b="1" i="0" dirty="0">
                <a:solidFill>
                  <a:srgbClr val="1C2E4A"/>
                </a:solidFill>
                <a:latin typeface="Georgia"/>
              </a:rPr>
              <a:t>Results</a:t>
            </a:r>
            <a:r>
              <a:rPr lang="en-IN" sz="1500" b="1" i="0" dirty="0">
                <a:solidFill>
                  <a:srgbClr val="1C2E4A"/>
                </a:solidFill>
                <a:latin typeface="Georgia"/>
              </a:rPr>
              <a:t>:</a:t>
            </a:r>
            <a:endParaRPr sz="1500" b="1" i="0" dirty="0">
              <a:solidFill>
                <a:srgbClr val="1C2E4A"/>
              </a:solidFill>
              <a:latin typeface="Georgia"/>
            </a:endParaRPr>
          </a:p>
        </p:txBody>
      </p:sp>
      <p:sp>
        <p:nvSpPr>
          <p:cNvPr id="15" name="TextBox 14"/>
          <p:cNvSpPr txBox="1"/>
          <p:nvPr/>
        </p:nvSpPr>
        <p:spPr>
          <a:xfrm>
            <a:off x="6400800" y="1828800"/>
            <a:ext cx="2560320" cy="323165"/>
          </a:xfrm>
          <a:prstGeom prst="rect">
            <a:avLst/>
          </a:prstGeom>
          <a:noFill/>
        </p:spPr>
        <p:txBody>
          <a:bodyPr wrap="square">
            <a:spAutoFit/>
          </a:bodyPr>
          <a:lstStyle/>
          <a:p>
            <a:pPr algn="l"/>
            <a:r>
              <a:rPr sz="1500" b="0" i="0" dirty="0" err="1">
                <a:solidFill>
                  <a:srgbClr val="777777"/>
                </a:solidFill>
                <a:latin typeface="Calibri"/>
              </a:rPr>
              <a:t>OvR</a:t>
            </a:r>
            <a:r>
              <a:rPr sz="1500" b="0" i="0" dirty="0">
                <a:solidFill>
                  <a:srgbClr val="777777"/>
                </a:solidFill>
                <a:latin typeface="Calibri"/>
              </a:rPr>
              <a:t> accuracy</a:t>
            </a:r>
          </a:p>
        </p:txBody>
      </p:sp>
      <p:sp>
        <p:nvSpPr>
          <p:cNvPr id="16" name="TextBox 15"/>
          <p:cNvSpPr txBox="1"/>
          <p:nvPr/>
        </p:nvSpPr>
        <p:spPr>
          <a:xfrm>
            <a:off x="8595360" y="1828800"/>
            <a:ext cx="2834640" cy="323165"/>
          </a:xfrm>
          <a:prstGeom prst="rect">
            <a:avLst/>
          </a:prstGeom>
          <a:noFill/>
        </p:spPr>
        <p:txBody>
          <a:bodyPr wrap="square">
            <a:spAutoFit/>
          </a:bodyPr>
          <a:lstStyle/>
          <a:p>
            <a:pPr algn="l"/>
            <a:r>
              <a:rPr sz="1500" b="0" i="0" dirty="0">
                <a:solidFill>
                  <a:srgbClr val="1A1A1A"/>
                </a:solidFill>
                <a:latin typeface="Calibri"/>
              </a:rPr>
              <a:t>85.2 %</a:t>
            </a:r>
          </a:p>
        </p:txBody>
      </p:sp>
      <p:sp>
        <p:nvSpPr>
          <p:cNvPr id="17" name="TextBox 16"/>
          <p:cNvSpPr txBox="1"/>
          <p:nvPr/>
        </p:nvSpPr>
        <p:spPr>
          <a:xfrm>
            <a:off x="6400800" y="2487168"/>
            <a:ext cx="2560320" cy="323165"/>
          </a:xfrm>
          <a:prstGeom prst="rect">
            <a:avLst/>
          </a:prstGeom>
          <a:noFill/>
        </p:spPr>
        <p:txBody>
          <a:bodyPr wrap="square">
            <a:spAutoFit/>
          </a:bodyPr>
          <a:lstStyle/>
          <a:p>
            <a:pPr algn="l"/>
            <a:r>
              <a:rPr sz="1500" b="0" i="0" dirty="0">
                <a:solidFill>
                  <a:srgbClr val="777777"/>
                </a:solidFill>
                <a:latin typeface="Calibri"/>
              </a:rPr>
              <a:t>Multinomial accuracy</a:t>
            </a:r>
          </a:p>
        </p:txBody>
      </p:sp>
      <p:sp>
        <p:nvSpPr>
          <p:cNvPr id="18" name="TextBox 17"/>
          <p:cNvSpPr txBox="1"/>
          <p:nvPr/>
        </p:nvSpPr>
        <p:spPr>
          <a:xfrm>
            <a:off x="8595360" y="2487168"/>
            <a:ext cx="2834640" cy="323165"/>
          </a:xfrm>
          <a:prstGeom prst="rect">
            <a:avLst/>
          </a:prstGeom>
          <a:noFill/>
        </p:spPr>
        <p:txBody>
          <a:bodyPr wrap="square">
            <a:spAutoFit/>
          </a:bodyPr>
          <a:lstStyle/>
          <a:p>
            <a:pPr algn="l"/>
            <a:r>
              <a:rPr sz="1500" b="0" i="0" dirty="0">
                <a:solidFill>
                  <a:srgbClr val="1A1A1A"/>
                </a:solidFill>
                <a:latin typeface="Calibri"/>
              </a:rPr>
              <a:t>84.8 %</a:t>
            </a:r>
          </a:p>
        </p:txBody>
      </p:sp>
      <p:sp>
        <p:nvSpPr>
          <p:cNvPr id="19" name="TextBox 18"/>
          <p:cNvSpPr txBox="1"/>
          <p:nvPr/>
        </p:nvSpPr>
        <p:spPr>
          <a:xfrm>
            <a:off x="6400800" y="3145536"/>
            <a:ext cx="2560320" cy="323165"/>
          </a:xfrm>
          <a:prstGeom prst="rect">
            <a:avLst/>
          </a:prstGeom>
          <a:noFill/>
        </p:spPr>
        <p:txBody>
          <a:bodyPr wrap="square">
            <a:spAutoFit/>
          </a:bodyPr>
          <a:lstStyle/>
          <a:p>
            <a:pPr algn="l"/>
            <a:r>
              <a:rPr sz="1500" b="0" i="0" dirty="0">
                <a:solidFill>
                  <a:srgbClr val="777777"/>
                </a:solidFill>
                <a:latin typeface="Calibri"/>
              </a:rPr>
              <a:t>Easiest class</a:t>
            </a:r>
          </a:p>
        </p:txBody>
      </p:sp>
      <p:sp>
        <p:nvSpPr>
          <p:cNvPr id="20" name="TextBox 19"/>
          <p:cNvSpPr txBox="1"/>
          <p:nvPr/>
        </p:nvSpPr>
        <p:spPr>
          <a:xfrm>
            <a:off x="8595360" y="3145536"/>
            <a:ext cx="2834640" cy="323165"/>
          </a:xfrm>
          <a:prstGeom prst="rect">
            <a:avLst/>
          </a:prstGeom>
          <a:noFill/>
        </p:spPr>
        <p:txBody>
          <a:bodyPr wrap="square">
            <a:spAutoFit/>
          </a:bodyPr>
          <a:lstStyle/>
          <a:p>
            <a:pPr algn="l"/>
            <a:r>
              <a:rPr sz="1500" b="0" i="0" dirty="0">
                <a:solidFill>
                  <a:srgbClr val="1A1A1A"/>
                </a:solidFill>
                <a:latin typeface="Calibri"/>
              </a:rPr>
              <a:t>High LE — distinct feature profile</a:t>
            </a:r>
          </a:p>
        </p:txBody>
      </p:sp>
      <p:sp>
        <p:nvSpPr>
          <p:cNvPr id="21" name="TextBox 20"/>
          <p:cNvSpPr txBox="1"/>
          <p:nvPr/>
        </p:nvSpPr>
        <p:spPr>
          <a:xfrm>
            <a:off x="6400800" y="3803904"/>
            <a:ext cx="2560320" cy="323165"/>
          </a:xfrm>
          <a:prstGeom prst="rect">
            <a:avLst/>
          </a:prstGeom>
          <a:noFill/>
        </p:spPr>
        <p:txBody>
          <a:bodyPr wrap="square">
            <a:spAutoFit/>
          </a:bodyPr>
          <a:lstStyle/>
          <a:p>
            <a:pPr algn="l"/>
            <a:r>
              <a:rPr sz="1500" b="0" i="0" dirty="0">
                <a:solidFill>
                  <a:srgbClr val="777777"/>
                </a:solidFill>
                <a:latin typeface="Calibri"/>
              </a:rPr>
              <a:t>Hardest class</a:t>
            </a:r>
          </a:p>
        </p:txBody>
      </p:sp>
      <p:sp>
        <p:nvSpPr>
          <p:cNvPr id="22" name="TextBox 21"/>
          <p:cNvSpPr txBox="1"/>
          <p:nvPr/>
        </p:nvSpPr>
        <p:spPr>
          <a:xfrm>
            <a:off x="8595360" y="3803904"/>
            <a:ext cx="3291840" cy="323165"/>
          </a:xfrm>
          <a:prstGeom prst="rect">
            <a:avLst/>
          </a:prstGeom>
          <a:noFill/>
        </p:spPr>
        <p:txBody>
          <a:bodyPr wrap="square">
            <a:spAutoFit/>
          </a:bodyPr>
          <a:lstStyle/>
          <a:p>
            <a:pPr algn="l"/>
            <a:r>
              <a:rPr sz="1500" b="0" i="0" dirty="0">
                <a:solidFill>
                  <a:srgbClr val="1A1A1A"/>
                </a:solidFill>
                <a:latin typeface="Calibri"/>
              </a:rPr>
              <a:t>Medium LE — overlaps both extremes</a:t>
            </a:r>
          </a:p>
        </p:txBody>
      </p:sp>
      <p:sp>
        <p:nvSpPr>
          <p:cNvPr id="24" name="TextBox 23"/>
          <p:cNvSpPr txBox="1"/>
          <p:nvPr/>
        </p:nvSpPr>
        <p:spPr>
          <a:xfrm>
            <a:off x="6400800" y="4773168"/>
            <a:ext cx="5394960" cy="1371600"/>
          </a:xfrm>
          <a:prstGeom prst="rect">
            <a:avLst/>
          </a:prstGeom>
          <a:noFill/>
        </p:spPr>
        <p:txBody>
          <a:bodyPr wrap="square">
            <a:spAutoFit/>
          </a:bodyPr>
          <a:lstStyle/>
          <a:p>
            <a:pPr algn="l"/>
            <a:r>
              <a:rPr sz="1100" b="0" i="1" dirty="0">
                <a:solidFill>
                  <a:srgbClr val="777777"/>
                </a:solidFill>
                <a:latin typeface="Calibri"/>
              </a:rPr>
              <a:t>The main confusion is between Medium and High LE — the boundary near 75 years is not sharp in the data. Countries just below and just above the cutoff share similar profiles, so misclassification in both directions is expected.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9F8F5"/>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461665"/>
          </a:xfrm>
          <a:prstGeom prst="rect">
            <a:avLst/>
          </a:prstGeom>
          <a:noFill/>
        </p:spPr>
        <p:txBody>
          <a:bodyPr wrap="square">
            <a:spAutoFit/>
          </a:bodyPr>
          <a:lstStyle/>
          <a:p>
            <a:pPr algn="l"/>
            <a:r>
              <a:rPr sz="2400" b="1" i="0" u="sng" dirty="0">
                <a:solidFill>
                  <a:srgbClr val="1C2E4A"/>
                </a:solidFill>
                <a:latin typeface="Georgia"/>
              </a:rPr>
              <a:t>Subset Selection</a:t>
            </a:r>
          </a:p>
        </p:txBody>
      </p:sp>
      <p:sp>
        <p:nvSpPr>
          <p:cNvPr id="3" name="TextBox 2"/>
          <p:cNvSpPr txBox="1"/>
          <p:nvPr/>
        </p:nvSpPr>
        <p:spPr>
          <a:xfrm>
            <a:off x="457200" y="804672"/>
            <a:ext cx="10972800" cy="292608"/>
          </a:xfrm>
          <a:prstGeom prst="rect">
            <a:avLst/>
          </a:prstGeom>
          <a:noFill/>
        </p:spPr>
        <p:txBody>
          <a:bodyPr wrap="square">
            <a:spAutoFit/>
          </a:bodyPr>
          <a:lstStyle/>
          <a:p>
            <a:pPr algn="l"/>
            <a:r>
              <a:rPr sz="1100" b="0" i="1">
                <a:solidFill>
                  <a:srgbClr val="777777"/>
                </a:solidFill>
                <a:latin typeface="Calibri"/>
              </a:rPr>
              <a:t>Forward and backward stepwise with adjusted R² and AIC/BIC</a:t>
            </a:r>
          </a:p>
        </p:txBody>
      </p:sp>
      <p:pic>
        <p:nvPicPr>
          <p:cNvPr id="5" name="Picture 4" descr="11_model_selection.png"/>
          <p:cNvPicPr>
            <a:picLocks noChangeAspect="1"/>
          </p:cNvPicPr>
          <p:nvPr/>
        </p:nvPicPr>
        <p:blipFill>
          <a:blip r:embed="rId2"/>
          <a:stretch>
            <a:fillRect/>
          </a:stretch>
        </p:blipFill>
        <p:spPr>
          <a:xfrm>
            <a:off x="365760" y="1261872"/>
            <a:ext cx="7863840" cy="3657600"/>
          </a:xfrm>
          <a:prstGeom prst="rect">
            <a:avLst/>
          </a:prstGeom>
        </p:spPr>
      </p:pic>
      <p:sp>
        <p:nvSpPr>
          <p:cNvPr id="6" name="TextBox 5"/>
          <p:cNvSpPr txBox="1"/>
          <p:nvPr/>
        </p:nvSpPr>
        <p:spPr>
          <a:xfrm>
            <a:off x="365760" y="4992624"/>
            <a:ext cx="7863840" cy="246221"/>
          </a:xfrm>
          <a:prstGeom prst="rect">
            <a:avLst/>
          </a:prstGeom>
          <a:noFill/>
        </p:spPr>
        <p:txBody>
          <a:bodyPr wrap="square">
            <a:spAutoFit/>
          </a:bodyPr>
          <a:lstStyle/>
          <a:p>
            <a:pPr algn="l"/>
            <a:r>
              <a:rPr sz="1000" b="0" i="1" dirty="0">
                <a:solidFill>
                  <a:srgbClr val="777777"/>
                </a:solidFill>
                <a:latin typeface="Calibri"/>
              </a:rPr>
              <a:t>Adjusted R² plateaus after 7 predictor — adding the remaining three yields almost nothing.</a:t>
            </a:r>
          </a:p>
        </p:txBody>
      </p:sp>
      <p:sp>
        <p:nvSpPr>
          <p:cNvPr id="7" name="TextBox 6"/>
          <p:cNvSpPr txBox="1"/>
          <p:nvPr/>
        </p:nvSpPr>
        <p:spPr>
          <a:xfrm>
            <a:off x="8412480" y="1298448"/>
            <a:ext cx="3566160" cy="320040"/>
          </a:xfrm>
          <a:prstGeom prst="rect">
            <a:avLst/>
          </a:prstGeom>
          <a:noFill/>
        </p:spPr>
        <p:txBody>
          <a:bodyPr wrap="square">
            <a:spAutoFit/>
          </a:bodyPr>
          <a:lstStyle/>
          <a:p>
            <a:pPr algn="l"/>
            <a:r>
              <a:rPr sz="1500" b="1" i="0" dirty="0">
                <a:solidFill>
                  <a:srgbClr val="1C2E4A"/>
                </a:solidFill>
                <a:latin typeface="Georgia"/>
              </a:rPr>
              <a:t>How the methods work</a:t>
            </a:r>
            <a:r>
              <a:rPr lang="en-IN" sz="1500" b="1" i="0" dirty="0">
                <a:solidFill>
                  <a:srgbClr val="1C2E4A"/>
                </a:solidFill>
                <a:latin typeface="Georgia"/>
              </a:rPr>
              <a:t>:</a:t>
            </a:r>
            <a:endParaRPr sz="1500" b="1" i="0" dirty="0">
              <a:solidFill>
                <a:srgbClr val="1C2E4A"/>
              </a:solidFill>
              <a:latin typeface="Georgia"/>
            </a:endParaRPr>
          </a:p>
        </p:txBody>
      </p:sp>
      <p:sp>
        <p:nvSpPr>
          <p:cNvPr id="9" name="TextBox 8"/>
          <p:cNvSpPr txBox="1"/>
          <p:nvPr/>
        </p:nvSpPr>
        <p:spPr>
          <a:xfrm>
            <a:off x="8412480" y="1783080"/>
            <a:ext cx="3566160" cy="3554819"/>
          </a:xfrm>
          <a:prstGeom prst="rect">
            <a:avLst/>
          </a:prstGeom>
          <a:noFill/>
        </p:spPr>
        <p:txBody>
          <a:bodyPr wrap="square">
            <a:spAutoFit/>
          </a:bodyPr>
          <a:lstStyle/>
          <a:p>
            <a:pPr algn="l"/>
            <a:r>
              <a:rPr sz="1500" b="0" i="0" dirty="0">
                <a:solidFill>
                  <a:srgbClr val="1A1A1A"/>
                </a:solidFill>
                <a:latin typeface="Calibri"/>
              </a:rPr>
              <a:t>Forward stepwise: start with no predictors, greedily add whichever variable gives the largest improvement in adjusted R² at each step. Stop when no addition helps.
Backward stepwise: start with all 10 predictors, remove the least significant variable (highest p-value) one at a time. Both methods converge to a 7-predictor model.
AIC and BIC both </a:t>
            </a:r>
            <a:r>
              <a:rPr sz="1500" b="0" i="0" dirty="0" err="1">
                <a:solidFill>
                  <a:srgbClr val="1A1A1A"/>
                </a:solidFill>
                <a:latin typeface="Calibri"/>
              </a:rPr>
              <a:t>penalise</a:t>
            </a:r>
            <a:r>
              <a:rPr sz="1500" b="0" i="0" dirty="0">
                <a:solidFill>
                  <a:srgbClr val="1A1A1A"/>
                </a:solidFill>
                <a:latin typeface="Calibri"/>
              </a:rPr>
              <a:t> unnecessary parameters. BIC's stronger penalty produces the same result here — 7 predictors is the stable optimum.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9F8F5"/>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461665"/>
          </a:xfrm>
          <a:prstGeom prst="rect">
            <a:avLst/>
          </a:prstGeom>
          <a:noFill/>
        </p:spPr>
        <p:txBody>
          <a:bodyPr wrap="square">
            <a:spAutoFit/>
          </a:bodyPr>
          <a:lstStyle/>
          <a:p>
            <a:pPr algn="l"/>
            <a:r>
              <a:rPr sz="2400" b="1" i="0" u="sng" dirty="0">
                <a:solidFill>
                  <a:srgbClr val="1C2E4A"/>
                </a:solidFill>
                <a:latin typeface="Georgia"/>
              </a:rPr>
              <a:t>Ridge, LASSO &amp; Elastic</a:t>
            </a:r>
            <a:r>
              <a:rPr lang="en-IN" sz="2400" b="1" i="0" u="sng" dirty="0">
                <a:solidFill>
                  <a:srgbClr val="1C2E4A"/>
                </a:solidFill>
                <a:latin typeface="Georgia"/>
              </a:rPr>
              <a:t> </a:t>
            </a:r>
            <a:r>
              <a:rPr sz="2400" b="1" i="0" u="sng" dirty="0">
                <a:solidFill>
                  <a:srgbClr val="1C2E4A"/>
                </a:solidFill>
                <a:latin typeface="Georgia"/>
              </a:rPr>
              <a:t>Net</a:t>
            </a:r>
          </a:p>
        </p:txBody>
      </p:sp>
      <p:pic>
        <p:nvPicPr>
          <p:cNvPr id="5" name="Picture 4" descr="08_regularization.png"/>
          <p:cNvPicPr>
            <a:picLocks noChangeAspect="1"/>
          </p:cNvPicPr>
          <p:nvPr/>
        </p:nvPicPr>
        <p:blipFill>
          <a:blip r:embed="rId2"/>
          <a:stretch>
            <a:fillRect/>
          </a:stretch>
        </p:blipFill>
        <p:spPr>
          <a:xfrm>
            <a:off x="365760" y="1261872"/>
            <a:ext cx="8138160" cy="5257800"/>
          </a:xfrm>
          <a:prstGeom prst="rect">
            <a:avLst/>
          </a:prstGeom>
        </p:spPr>
      </p:pic>
      <p:sp>
        <p:nvSpPr>
          <p:cNvPr id="6" name="TextBox 5"/>
          <p:cNvSpPr txBox="1"/>
          <p:nvPr/>
        </p:nvSpPr>
        <p:spPr>
          <a:xfrm>
            <a:off x="8686800" y="1298448"/>
            <a:ext cx="3291840" cy="320040"/>
          </a:xfrm>
          <a:prstGeom prst="rect">
            <a:avLst/>
          </a:prstGeom>
          <a:noFill/>
        </p:spPr>
        <p:txBody>
          <a:bodyPr wrap="square">
            <a:spAutoFit/>
          </a:bodyPr>
          <a:lstStyle/>
          <a:p>
            <a:pPr algn="l"/>
            <a:r>
              <a:rPr sz="1500" b="1" i="0" dirty="0">
                <a:solidFill>
                  <a:srgbClr val="1C2E4A"/>
                </a:solidFill>
                <a:latin typeface="Georgia"/>
              </a:rPr>
              <a:t>How they differ</a:t>
            </a:r>
            <a:r>
              <a:rPr lang="en-IN" sz="1500" b="1" i="0" dirty="0">
                <a:solidFill>
                  <a:srgbClr val="1C2E4A"/>
                </a:solidFill>
                <a:latin typeface="Georgia"/>
              </a:rPr>
              <a:t>:</a:t>
            </a:r>
            <a:endParaRPr sz="1500" b="1" i="0" dirty="0">
              <a:solidFill>
                <a:srgbClr val="1C2E4A"/>
              </a:solidFill>
              <a:latin typeface="Georgia"/>
            </a:endParaRPr>
          </a:p>
        </p:txBody>
      </p:sp>
      <p:sp>
        <p:nvSpPr>
          <p:cNvPr id="8" name="TextBox 7"/>
          <p:cNvSpPr txBox="1"/>
          <p:nvPr/>
        </p:nvSpPr>
        <p:spPr>
          <a:xfrm>
            <a:off x="8686800" y="1783080"/>
            <a:ext cx="3291840" cy="4478149"/>
          </a:xfrm>
          <a:prstGeom prst="rect">
            <a:avLst/>
          </a:prstGeom>
          <a:noFill/>
        </p:spPr>
        <p:txBody>
          <a:bodyPr wrap="square">
            <a:spAutoFit/>
          </a:bodyPr>
          <a:lstStyle/>
          <a:p>
            <a:pPr algn="l"/>
            <a:r>
              <a:rPr sz="1500" b="0" i="0" dirty="0">
                <a:solidFill>
                  <a:srgbClr val="1A1A1A"/>
                </a:solidFill>
                <a:latin typeface="Calibri"/>
              </a:rPr>
              <a:t>Ridge adds </a:t>
            </a:r>
            <a:r>
              <a:rPr sz="1500" b="0" i="0" dirty="0" err="1">
                <a:solidFill>
                  <a:srgbClr val="1A1A1A"/>
                </a:solidFill>
                <a:latin typeface="Calibri"/>
              </a:rPr>
              <a:t>λΣ</a:t>
            </a:r>
            <a:r>
              <a:rPr sz="1500" b="0" i="0" dirty="0">
                <a:solidFill>
                  <a:srgbClr val="1A1A1A"/>
                </a:solidFill>
                <a:latin typeface="Calibri"/>
              </a:rPr>
              <a:t>β² — shrinks everything, removes nothing. Good when many small effects are present.
LASSO adds </a:t>
            </a:r>
            <a:r>
              <a:rPr sz="1500" b="0" i="0" dirty="0" err="1">
                <a:solidFill>
                  <a:srgbClr val="1A1A1A"/>
                </a:solidFill>
                <a:latin typeface="Calibri"/>
              </a:rPr>
              <a:t>λΣ</a:t>
            </a:r>
            <a:r>
              <a:rPr sz="1500" b="0" i="0" dirty="0">
                <a:solidFill>
                  <a:srgbClr val="1A1A1A"/>
                </a:solidFill>
                <a:latin typeface="Calibri"/>
              </a:rPr>
              <a:t>|β| — drives some coefficients to exactly zero, acting as variable selection. Best α = 0.014 here; 3 of 10 predictors are zeroed.
</a:t>
            </a:r>
            <a:r>
              <a:rPr sz="1500" b="0" i="0" dirty="0" err="1">
                <a:solidFill>
                  <a:srgbClr val="1A1A1A"/>
                </a:solidFill>
                <a:latin typeface="Calibri"/>
              </a:rPr>
              <a:t>ElasticNet</a:t>
            </a:r>
            <a:r>
              <a:rPr sz="1500" b="0" i="0" dirty="0">
                <a:solidFill>
                  <a:srgbClr val="1A1A1A"/>
                </a:solidFill>
                <a:latin typeface="Calibri"/>
              </a:rPr>
              <a:t> blends both penalties — useful when predictors are correlated. Slight edge over Ridge on this data.
All three land at R² ≈ 0.80–0.803 — almost identical to plain OLS. This is actually reassuring: it means the OLS solution is not overfitting, and the predictors that survived stepwise selection are genuinely informative.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9F8F5"/>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461665"/>
          </a:xfrm>
          <a:prstGeom prst="rect">
            <a:avLst/>
          </a:prstGeom>
          <a:noFill/>
        </p:spPr>
        <p:txBody>
          <a:bodyPr wrap="square">
            <a:spAutoFit/>
          </a:bodyPr>
          <a:lstStyle/>
          <a:p>
            <a:pPr algn="l"/>
            <a:r>
              <a:rPr sz="2400" b="1" i="0" u="sng" dirty="0">
                <a:solidFill>
                  <a:srgbClr val="1C2E4A"/>
                </a:solidFill>
                <a:latin typeface="Georgia"/>
              </a:rPr>
              <a:t>GLM — The Three Components</a:t>
            </a:r>
          </a:p>
        </p:txBody>
      </p:sp>
      <p:sp>
        <p:nvSpPr>
          <p:cNvPr id="5" name="TextBox 4"/>
          <p:cNvSpPr txBox="1"/>
          <p:nvPr/>
        </p:nvSpPr>
        <p:spPr>
          <a:xfrm>
            <a:off x="457200" y="1298448"/>
            <a:ext cx="11274552" cy="323165"/>
          </a:xfrm>
          <a:prstGeom prst="rect">
            <a:avLst/>
          </a:prstGeom>
          <a:noFill/>
        </p:spPr>
        <p:txBody>
          <a:bodyPr wrap="square">
            <a:spAutoFit/>
          </a:bodyPr>
          <a:lstStyle/>
          <a:p>
            <a:pPr algn="l"/>
            <a:r>
              <a:rPr sz="1500" b="1" i="0" dirty="0">
                <a:solidFill>
                  <a:srgbClr val="1C2E4A"/>
                </a:solidFill>
                <a:latin typeface="Calibri"/>
              </a:rPr>
              <a:t>1.  Random component</a:t>
            </a:r>
          </a:p>
        </p:txBody>
      </p:sp>
      <p:sp>
        <p:nvSpPr>
          <p:cNvPr id="6" name="TextBox 5"/>
          <p:cNvSpPr txBox="1"/>
          <p:nvPr/>
        </p:nvSpPr>
        <p:spPr>
          <a:xfrm>
            <a:off x="457200" y="1682495"/>
            <a:ext cx="11274552" cy="553998"/>
          </a:xfrm>
          <a:prstGeom prst="rect">
            <a:avLst/>
          </a:prstGeom>
          <a:noFill/>
        </p:spPr>
        <p:txBody>
          <a:bodyPr wrap="square">
            <a:spAutoFit/>
          </a:bodyPr>
          <a:lstStyle/>
          <a:p>
            <a:pPr algn="l"/>
            <a:r>
              <a:rPr sz="1500" b="0" i="0" dirty="0">
                <a:solidFill>
                  <a:srgbClr val="1A1A1A"/>
                </a:solidFill>
                <a:latin typeface="Calibri"/>
              </a:rPr>
              <a:t>Y must follow a distribution from the exponential family. For our binary classification task (Developed / Developing), we use Y ~ Binomial(n, π), where π = P(Developed | X). The expected value is E[Y] = μ = π.</a:t>
            </a:r>
          </a:p>
        </p:txBody>
      </p:sp>
      <p:sp>
        <p:nvSpPr>
          <p:cNvPr id="7" name="TextBox 6"/>
          <p:cNvSpPr txBox="1"/>
          <p:nvPr/>
        </p:nvSpPr>
        <p:spPr>
          <a:xfrm>
            <a:off x="457073" y="2377439"/>
            <a:ext cx="11274552" cy="323165"/>
          </a:xfrm>
          <a:prstGeom prst="rect">
            <a:avLst/>
          </a:prstGeom>
          <a:noFill/>
        </p:spPr>
        <p:txBody>
          <a:bodyPr wrap="square">
            <a:spAutoFit/>
          </a:bodyPr>
          <a:lstStyle/>
          <a:p>
            <a:pPr algn="l"/>
            <a:r>
              <a:rPr sz="1500" b="1" i="0" dirty="0">
                <a:solidFill>
                  <a:srgbClr val="1C2E4A"/>
                </a:solidFill>
                <a:latin typeface="Calibri"/>
              </a:rPr>
              <a:t>2.  Systematic component</a:t>
            </a:r>
          </a:p>
        </p:txBody>
      </p:sp>
      <p:sp>
        <p:nvSpPr>
          <p:cNvPr id="8" name="TextBox 7"/>
          <p:cNvSpPr txBox="1"/>
          <p:nvPr/>
        </p:nvSpPr>
        <p:spPr>
          <a:xfrm>
            <a:off x="457200" y="2821463"/>
            <a:ext cx="11274552" cy="1246495"/>
          </a:xfrm>
          <a:prstGeom prst="rect">
            <a:avLst/>
          </a:prstGeom>
          <a:noFill/>
        </p:spPr>
        <p:txBody>
          <a:bodyPr wrap="square">
            <a:spAutoFit/>
          </a:bodyPr>
          <a:lstStyle/>
          <a:p>
            <a:pPr algn="l"/>
            <a:r>
              <a:rPr sz="1500" b="0" i="0" dirty="0">
                <a:solidFill>
                  <a:srgbClr val="1A1A1A"/>
                </a:solidFill>
                <a:latin typeface="Calibri"/>
              </a:rPr>
              <a:t>A linear predictor η combines the covariates:
          η  =  β₀  +  β₁X₁  +  β₂X₂  +  …  +  βₚXₚ
X includes Schooling, Income composition, HIV/AIDS, Adult Mortality, BMI, and others.</a:t>
            </a:r>
          </a:p>
        </p:txBody>
      </p:sp>
      <p:sp>
        <p:nvSpPr>
          <p:cNvPr id="9" name="TextBox 8"/>
          <p:cNvSpPr txBox="1"/>
          <p:nvPr/>
        </p:nvSpPr>
        <p:spPr>
          <a:xfrm>
            <a:off x="457200" y="4064507"/>
            <a:ext cx="11274552" cy="323165"/>
          </a:xfrm>
          <a:prstGeom prst="rect">
            <a:avLst/>
          </a:prstGeom>
          <a:noFill/>
        </p:spPr>
        <p:txBody>
          <a:bodyPr wrap="square">
            <a:spAutoFit/>
          </a:bodyPr>
          <a:lstStyle/>
          <a:p>
            <a:pPr algn="l"/>
            <a:r>
              <a:rPr sz="1500" b="1" i="0" dirty="0">
                <a:solidFill>
                  <a:srgbClr val="1C2E4A"/>
                </a:solidFill>
                <a:latin typeface="Calibri"/>
              </a:rPr>
              <a:t>3.  Link function — logit</a:t>
            </a:r>
          </a:p>
        </p:txBody>
      </p:sp>
      <p:sp>
        <p:nvSpPr>
          <p:cNvPr id="10" name="TextBox 9"/>
          <p:cNvSpPr txBox="1"/>
          <p:nvPr/>
        </p:nvSpPr>
        <p:spPr>
          <a:xfrm>
            <a:off x="457073" y="4603463"/>
            <a:ext cx="11274552" cy="1246495"/>
          </a:xfrm>
          <a:prstGeom prst="rect">
            <a:avLst/>
          </a:prstGeom>
          <a:noFill/>
        </p:spPr>
        <p:txBody>
          <a:bodyPr wrap="square">
            <a:spAutoFit/>
          </a:bodyPr>
          <a:lstStyle/>
          <a:p>
            <a:pPr algn="l"/>
            <a:r>
              <a:rPr sz="1500" b="0" i="0" dirty="0">
                <a:solidFill>
                  <a:srgbClr val="1A1A1A"/>
                </a:solidFill>
                <a:latin typeface="Calibri"/>
              </a:rPr>
              <a:t>The link g(μ) connects μ to η, mapping probabilities in (0, 1) onto the full real line:
          g(μ)  =  logit(μ)  =  log( μ / 1 − μ )  =  η
Inverting: μ = exp(η) / (1 + exp(η)). This is the logistic curve.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9F8F5"/>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461665"/>
          </a:xfrm>
          <a:prstGeom prst="rect">
            <a:avLst/>
          </a:prstGeom>
          <a:noFill/>
        </p:spPr>
        <p:txBody>
          <a:bodyPr wrap="square">
            <a:spAutoFit/>
          </a:bodyPr>
          <a:lstStyle/>
          <a:p>
            <a:pPr algn="l"/>
            <a:r>
              <a:rPr sz="2400" b="1" i="0" u="sng" dirty="0">
                <a:solidFill>
                  <a:srgbClr val="1C2E4A"/>
                </a:solidFill>
                <a:latin typeface="Georgia"/>
              </a:rPr>
              <a:t>Model Performance Summary</a:t>
            </a:r>
          </a:p>
        </p:txBody>
      </p:sp>
      <p:graphicFrame>
        <p:nvGraphicFramePr>
          <p:cNvPr id="5" name="Table 4"/>
          <p:cNvGraphicFramePr>
            <a:graphicFrameLocks noGrp="1"/>
          </p:cNvGraphicFramePr>
          <p:nvPr>
            <p:extLst>
              <p:ext uri="{D42A27DB-BD31-4B8C-83A1-F6EECF244321}">
                <p14:modId xmlns:p14="http://schemas.microsoft.com/office/powerpoint/2010/main" val="280903409"/>
              </p:ext>
            </p:extLst>
          </p:nvPr>
        </p:nvGraphicFramePr>
        <p:xfrm>
          <a:off x="274320" y="1261872"/>
          <a:ext cx="7758635" cy="4206240"/>
        </p:xfrm>
        <a:graphic>
          <a:graphicData uri="http://schemas.openxmlformats.org/drawingml/2006/table">
            <a:tbl>
              <a:tblPr firstRow="1" bandRow="1">
                <a:tableStyleId>{5C22544A-7EE6-4342-B048-85BDC9FD1C3A}</a:tableStyleId>
              </a:tblPr>
              <a:tblGrid>
                <a:gridCol w="26517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2729435">
                  <a:extLst>
                    <a:ext uri="{9D8B030D-6E8A-4147-A177-3AD203B41FA5}">
                      <a16:colId xmlns:a16="http://schemas.microsoft.com/office/drawing/2014/main" val="20003"/>
                    </a:ext>
                  </a:extLst>
                </a:gridCol>
              </a:tblGrid>
              <a:tr h="420624">
                <a:tc>
                  <a:txBody>
                    <a:bodyPr/>
                    <a:lstStyle/>
                    <a:p>
                      <a:r>
                        <a:rPr sz="1050" b="1" dirty="0">
                          <a:solidFill>
                            <a:srgbClr val="FFFFFF"/>
                          </a:solidFill>
                          <a:latin typeface="Calibri"/>
                        </a:rPr>
                        <a:t>Model</a:t>
                      </a:r>
                    </a:p>
                  </a:txBody>
                  <a:tcPr>
                    <a:solidFill>
                      <a:srgbClr val="1C2E4A"/>
                    </a:solidFill>
                  </a:tcPr>
                </a:tc>
                <a:tc>
                  <a:txBody>
                    <a:bodyPr/>
                    <a:lstStyle/>
                    <a:p>
                      <a:r>
                        <a:rPr sz="1050" b="1">
                          <a:solidFill>
                            <a:srgbClr val="FFFFFF"/>
                          </a:solidFill>
                          <a:latin typeface="Calibri"/>
                        </a:rPr>
                        <a:t>Task</a:t>
                      </a:r>
                    </a:p>
                  </a:txBody>
                  <a:tcPr>
                    <a:solidFill>
                      <a:srgbClr val="1C2E4A"/>
                    </a:solidFill>
                  </a:tcPr>
                </a:tc>
                <a:tc>
                  <a:txBody>
                    <a:bodyPr/>
                    <a:lstStyle/>
                    <a:p>
                      <a:r>
                        <a:rPr sz="1050" b="1">
                          <a:solidFill>
                            <a:srgbClr val="FFFFFF"/>
                          </a:solidFill>
                          <a:latin typeface="Calibri"/>
                        </a:rPr>
                        <a:t>Test R²</a:t>
                      </a:r>
                    </a:p>
                  </a:txBody>
                  <a:tcPr>
                    <a:solidFill>
                      <a:srgbClr val="1C2E4A"/>
                    </a:solidFill>
                  </a:tcPr>
                </a:tc>
                <a:tc>
                  <a:txBody>
                    <a:bodyPr/>
                    <a:lstStyle/>
                    <a:p>
                      <a:r>
                        <a:rPr lang="en-IN" sz="1050" b="1" dirty="0">
                          <a:solidFill>
                            <a:srgbClr val="FFFFFF"/>
                          </a:solidFill>
                          <a:latin typeface="Calibri"/>
                        </a:rPr>
                        <a:t>Remarks</a:t>
                      </a:r>
                      <a:endParaRPr sz="1050" b="1" dirty="0">
                        <a:solidFill>
                          <a:srgbClr val="FFFFFF"/>
                        </a:solidFill>
                        <a:latin typeface="Calibri"/>
                      </a:endParaRPr>
                    </a:p>
                  </a:txBody>
                  <a:tcPr>
                    <a:solidFill>
                      <a:srgbClr val="1C2E4A"/>
                    </a:solidFill>
                  </a:tcPr>
                </a:tc>
                <a:extLst>
                  <a:ext uri="{0D108BD9-81ED-4DB2-BD59-A6C34878D82A}">
                    <a16:rowId xmlns:a16="http://schemas.microsoft.com/office/drawing/2014/main" val="10000"/>
                  </a:ext>
                </a:extLst>
              </a:tr>
              <a:tr h="420624">
                <a:tc>
                  <a:txBody>
                    <a:bodyPr/>
                    <a:lstStyle/>
                    <a:p>
                      <a:r>
                        <a:rPr sz="1000" b="0">
                          <a:solidFill>
                            <a:srgbClr val="1A1A1A"/>
                          </a:solidFill>
                          <a:latin typeface="Calibri"/>
                        </a:rPr>
                        <a:t>Simple LR — Schooling only</a:t>
                      </a:r>
                    </a:p>
                  </a:txBody>
                  <a:tcPr>
                    <a:solidFill>
                      <a:srgbClr val="FFFFFF"/>
                    </a:solidFill>
                  </a:tcPr>
                </a:tc>
                <a:tc>
                  <a:txBody>
                    <a:bodyPr/>
                    <a:lstStyle/>
                    <a:p>
                      <a:r>
                        <a:rPr sz="1000" b="0">
                          <a:solidFill>
                            <a:srgbClr val="1A1A1A"/>
                          </a:solidFill>
                          <a:latin typeface="Calibri"/>
                        </a:rPr>
                        <a:t>Regression</a:t>
                      </a:r>
                    </a:p>
                  </a:txBody>
                  <a:tcPr>
                    <a:solidFill>
                      <a:srgbClr val="FFFFFF"/>
                    </a:solidFill>
                  </a:tcPr>
                </a:tc>
                <a:tc>
                  <a:txBody>
                    <a:bodyPr/>
                    <a:lstStyle/>
                    <a:p>
                      <a:r>
                        <a:rPr sz="1000" b="0">
                          <a:solidFill>
                            <a:srgbClr val="1A1A1A"/>
                          </a:solidFill>
                          <a:latin typeface="Calibri"/>
                        </a:rPr>
                        <a:t>0.565</a:t>
                      </a:r>
                    </a:p>
                  </a:txBody>
                  <a:tcPr>
                    <a:solidFill>
                      <a:srgbClr val="FFFFFF"/>
                    </a:solidFill>
                  </a:tcPr>
                </a:tc>
                <a:tc>
                  <a:txBody>
                    <a:bodyPr/>
                    <a:lstStyle/>
                    <a:p>
                      <a:r>
                        <a:rPr sz="1000" b="0" dirty="0">
                          <a:solidFill>
                            <a:srgbClr val="1A1A1A"/>
                          </a:solidFill>
                          <a:latin typeface="Calibri"/>
                        </a:rPr>
                        <a:t>Baseline</a:t>
                      </a:r>
                    </a:p>
                  </a:txBody>
                  <a:tcPr>
                    <a:solidFill>
                      <a:srgbClr val="FFFFFF"/>
                    </a:solidFill>
                  </a:tcPr>
                </a:tc>
                <a:extLst>
                  <a:ext uri="{0D108BD9-81ED-4DB2-BD59-A6C34878D82A}">
                    <a16:rowId xmlns:a16="http://schemas.microsoft.com/office/drawing/2014/main" val="10001"/>
                  </a:ext>
                </a:extLst>
              </a:tr>
              <a:tr h="420624">
                <a:tc>
                  <a:txBody>
                    <a:bodyPr/>
                    <a:lstStyle/>
                    <a:p>
                      <a:r>
                        <a:rPr sz="1000" b="0">
                          <a:solidFill>
                            <a:srgbClr val="1A1A1A"/>
                          </a:solidFill>
                          <a:latin typeface="Calibri"/>
                        </a:rPr>
                        <a:t>Multiple LR — 10 predictors</a:t>
                      </a:r>
                    </a:p>
                  </a:txBody>
                  <a:tcPr>
                    <a:solidFill>
                      <a:srgbClr val="F0F4F8"/>
                    </a:solidFill>
                  </a:tcPr>
                </a:tc>
                <a:tc>
                  <a:txBody>
                    <a:bodyPr/>
                    <a:lstStyle/>
                    <a:p>
                      <a:r>
                        <a:rPr sz="1000" b="0">
                          <a:solidFill>
                            <a:srgbClr val="1A1A1A"/>
                          </a:solidFill>
                          <a:latin typeface="Calibri"/>
                        </a:rPr>
                        <a:t>Regression</a:t>
                      </a:r>
                    </a:p>
                  </a:txBody>
                  <a:tcPr>
                    <a:solidFill>
                      <a:srgbClr val="F0F4F8"/>
                    </a:solidFill>
                  </a:tcPr>
                </a:tc>
                <a:tc>
                  <a:txBody>
                    <a:bodyPr/>
                    <a:lstStyle/>
                    <a:p>
                      <a:r>
                        <a:rPr sz="1000" b="0">
                          <a:solidFill>
                            <a:srgbClr val="1A1A1A"/>
                          </a:solidFill>
                          <a:latin typeface="Calibri"/>
                        </a:rPr>
                        <a:t>0.802</a:t>
                      </a:r>
                    </a:p>
                  </a:txBody>
                  <a:tcPr>
                    <a:solidFill>
                      <a:srgbClr val="F0F4F8"/>
                    </a:solidFill>
                  </a:tcPr>
                </a:tc>
                <a:tc>
                  <a:txBody>
                    <a:bodyPr/>
                    <a:lstStyle/>
                    <a:p>
                      <a:r>
                        <a:rPr sz="1000" b="0" dirty="0">
                          <a:solidFill>
                            <a:srgbClr val="1A1A1A"/>
                          </a:solidFill>
                          <a:latin typeface="Calibri"/>
                        </a:rPr>
                        <a:t>Includes Status dummy</a:t>
                      </a:r>
                    </a:p>
                  </a:txBody>
                  <a:tcPr>
                    <a:solidFill>
                      <a:srgbClr val="F0F4F8"/>
                    </a:solidFill>
                  </a:tcPr>
                </a:tc>
                <a:extLst>
                  <a:ext uri="{0D108BD9-81ED-4DB2-BD59-A6C34878D82A}">
                    <a16:rowId xmlns:a16="http://schemas.microsoft.com/office/drawing/2014/main" val="10002"/>
                  </a:ext>
                </a:extLst>
              </a:tr>
              <a:tr h="420624">
                <a:tc>
                  <a:txBody>
                    <a:bodyPr/>
                    <a:lstStyle/>
                    <a:p>
                      <a:r>
                        <a:rPr sz="1000" b="0">
                          <a:solidFill>
                            <a:srgbClr val="1A1A1A"/>
                          </a:solidFill>
                          <a:latin typeface="Calibri"/>
                        </a:rPr>
                        <a:t>KNN — k = 7</a:t>
                      </a:r>
                    </a:p>
                  </a:txBody>
                  <a:tcPr>
                    <a:solidFill>
                      <a:srgbClr val="FFFFFF"/>
                    </a:solidFill>
                  </a:tcPr>
                </a:tc>
                <a:tc>
                  <a:txBody>
                    <a:bodyPr/>
                    <a:lstStyle/>
                    <a:p>
                      <a:r>
                        <a:rPr sz="1000" b="0">
                          <a:solidFill>
                            <a:srgbClr val="1A1A1A"/>
                          </a:solidFill>
                          <a:latin typeface="Calibri"/>
                        </a:rPr>
                        <a:t>Regression</a:t>
                      </a:r>
                    </a:p>
                  </a:txBody>
                  <a:tcPr>
                    <a:solidFill>
                      <a:srgbClr val="FFFFFF"/>
                    </a:solidFill>
                  </a:tcPr>
                </a:tc>
                <a:tc>
                  <a:txBody>
                    <a:bodyPr/>
                    <a:lstStyle/>
                    <a:p>
                      <a:r>
                        <a:rPr sz="1000" b="0">
                          <a:solidFill>
                            <a:srgbClr val="1A1A1A"/>
                          </a:solidFill>
                          <a:latin typeface="Calibri"/>
                        </a:rPr>
                        <a:t>0.810</a:t>
                      </a:r>
                    </a:p>
                  </a:txBody>
                  <a:tcPr>
                    <a:solidFill>
                      <a:srgbClr val="FFFFFF"/>
                    </a:solidFill>
                  </a:tcPr>
                </a:tc>
                <a:tc>
                  <a:txBody>
                    <a:bodyPr/>
                    <a:lstStyle/>
                    <a:p>
                      <a:r>
                        <a:rPr sz="1000" b="0" dirty="0">
                          <a:solidFill>
                            <a:srgbClr val="1A1A1A"/>
                          </a:solidFill>
                          <a:latin typeface="Calibri"/>
                        </a:rPr>
                        <a:t>Best by CV</a:t>
                      </a:r>
                    </a:p>
                  </a:txBody>
                  <a:tcPr>
                    <a:solidFill>
                      <a:srgbClr val="FFFFFF"/>
                    </a:solidFill>
                  </a:tcPr>
                </a:tc>
                <a:extLst>
                  <a:ext uri="{0D108BD9-81ED-4DB2-BD59-A6C34878D82A}">
                    <a16:rowId xmlns:a16="http://schemas.microsoft.com/office/drawing/2014/main" val="10003"/>
                  </a:ext>
                </a:extLst>
              </a:tr>
              <a:tr h="420624">
                <a:tc>
                  <a:txBody>
                    <a:bodyPr/>
                    <a:lstStyle/>
                    <a:p>
                      <a:r>
                        <a:rPr sz="1000" b="0">
                          <a:solidFill>
                            <a:srgbClr val="1A1A1A"/>
                          </a:solidFill>
                          <a:latin typeface="Calibri"/>
                        </a:rPr>
                        <a:t>Ridge</a:t>
                      </a:r>
                    </a:p>
                  </a:txBody>
                  <a:tcPr>
                    <a:solidFill>
                      <a:srgbClr val="F0F4F8"/>
                    </a:solidFill>
                  </a:tcPr>
                </a:tc>
                <a:tc>
                  <a:txBody>
                    <a:bodyPr/>
                    <a:lstStyle/>
                    <a:p>
                      <a:r>
                        <a:rPr sz="1000" b="0">
                          <a:solidFill>
                            <a:srgbClr val="1A1A1A"/>
                          </a:solidFill>
                          <a:latin typeface="Calibri"/>
                        </a:rPr>
                        <a:t>Regression</a:t>
                      </a:r>
                    </a:p>
                  </a:txBody>
                  <a:tcPr>
                    <a:solidFill>
                      <a:srgbClr val="F0F4F8"/>
                    </a:solidFill>
                  </a:tcPr>
                </a:tc>
                <a:tc>
                  <a:txBody>
                    <a:bodyPr/>
                    <a:lstStyle/>
                    <a:p>
                      <a:r>
                        <a:rPr sz="1000" b="0">
                          <a:solidFill>
                            <a:srgbClr val="1A1A1A"/>
                          </a:solidFill>
                          <a:latin typeface="Calibri"/>
                        </a:rPr>
                        <a:t>0.803</a:t>
                      </a:r>
                    </a:p>
                  </a:txBody>
                  <a:tcPr>
                    <a:solidFill>
                      <a:srgbClr val="F0F4F8"/>
                    </a:solidFill>
                  </a:tcPr>
                </a:tc>
                <a:tc>
                  <a:txBody>
                    <a:bodyPr/>
                    <a:lstStyle/>
                    <a:p>
                      <a:r>
                        <a:rPr sz="1000" b="0" dirty="0">
                          <a:solidFill>
                            <a:srgbClr val="1A1A1A"/>
                          </a:solidFill>
                          <a:latin typeface="Calibri"/>
                        </a:rPr>
                        <a:t>L2, α = 0.01</a:t>
                      </a:r>
                    </a:p>
                  </a:txBody>
                  <a:tcPr>
                    <a:solidFill>
                      <a:srgbClr val="F0F4F8"/>
                    </a:solidFill>
                  </a:tcPr>
                </a:tc>
                <a:extLst>
                  <a:ext uri="{0D108BD9-81ED-4DB2-BD59-A6C34878D82A}">
                    <a16:rowId xmlns:a16="http://schemas.microsoft.com/office/drawing/2014/main" val="10004"/>
                  </a:ext>
                </a:extLst>
              </a:tr>
              <a:tr h="420624">
                <a:tc>
                  <a:txBody>
                    <a:bodyPr/>
                    <a:lstStyle/>
                    <a:p>
                      <a:r>
                        <a:rPr sz="1000" b="0">
                          <a:solidFill>
                            <a:srgbClr val="1A1A1A"/>
                          </a:solidFill>
                          <a:latin typeface="Calibri"/>
                        </a:rPr>
                        <a:t>LASSO</a:t>
                      </a:r>
                    </a:p>
                  </a:txBody>
                  <a:tcPr>
                    <a:solidFill>
                      <a:srgbClr val="FFFFFF"/>
                    </a:solidFill>
                  </a:tcPr>
                </a:tc>
                <a:tc>
                  <a:txBody>
                    <a:bodyPr/>
                    <a:lstStyle/>
                    <a:p>
                      <a:r>
                        <a:rPr sz="1000" b="0">
                          <a:solidFill>
                            <a:srgbClr val="1A1A1A"/>
                          </a:solidFill>
                          <a:latin typeface="Calibri"/>
                        </a:rPr>
                        <a:t>Regression</a:t>
                      </a:r>
                    </a:p>
                  </a:txBody>
                  <a:tcPr>
                    <a:solidFill>
                      <a:srgbClr val="FFFFFF"/>
                    </a:solidFill>
                  </a:tcPr>
                </a:tc>
                <a:tc>
                  <a:txBody>
                    <a:bodyPr/>
                    <a:lstStyle/>
                    <a:p>
                      <a:r>
                        <a:rPr sz="1000" b="0">
                          <a:solidFill>
                            <a:srgbClr val="1A1A1A"/>
                          </a:solidFill>
                          <a:latin typeface="Calibri"/>
                        </a:rPr>
                        <a:t>0.802</a:t>
                      </a:r>
                    </a:p>
                  </a:txBody>
                  <a:tcPr>
                    <a:solidFill>
                      <a:srgbClr val="FFFFFF"/>
                    </a:solidFill>
                  </a:tcPr>
                </a:tc>
                <a:tc>
                  <a:txBody>
                    <a:bodyPr/>
                    <a:lstStyle/>
                    <a:p>
                      <a:r>
                        <a:rPr sz="1000" b="0" dirty="0">
                          <a:solidFill>
                            <a:srgbClr val="1A1A1A"/>
                          </a:solidFill>
                          <a:latin typeface="Calibri"/>
                        </a:rPr>
                        <a:t>L1, α = 0.014; 3 zeroed</a:t>
                      </a:r>
                    </a:p>
                  </a:txBody>
                  <a:tcPr>
                    <a:solidFill>
                      <a:srgbClr val="FFFFFF"/>
                    </a:solidFill>
                  </a:tcPr>
                </a:tc>
                <a:extLst>
                  <a:ext uri="{0D108BD9-81ED-4DB2-BD59-A6C34878D82A}">
                    <a16:rowId xmlns:a16="http://schemas.microsoft.com/office/drawing/2014/main" val="10005"/>
                  </a:ext>
                </a:extLst>
              </a:tr>
              <a:tr h="420624">
                <a:tc>
                  <a:txBody>
                    <a:bodyPr/>
                    <a:lstStyle/>
                    <a:p>
                      <a:r>
                        <a:rPr sz="1000" b="0">
                          <a:solidFill>
                            <a:srgbClr val="1A1A1A"/>
                          </a:solidFill>
                          <a:latin typeface="Calibri"/>
                        </a:rPr>
                        <a:t>ElasticNet</a:t>
                      </a:r>
                    </a:p>
                  </a:txBody>
                  <a:tcPr>
                    <a:solidFill>
                      <a:srgbClr val="F0F4F8"/>
                    </a:solidFill>
                  </a:tcPr>
                </a:tc>
                <a:tc>
                  <a:txBody>
                    <a:bodyPr/>
                    <a:lstStyle/>
                    <a:p>
                      <a:r>
                        <a:rPr sz="1000" b="0">
                          <a:solidFill>
                            <a:srgbClr val="1A1A1A"/>
                          </a:solidFill>
                          <a:latin typeface="Calibri"/>
                        </a:rPr>
                        <a:t>Regression</a:t>
                      </a:r>
                    </a:p>
                  </a:txBody>
                  <a:tcPr>
                    <a:solidFill>
                      <a:srgbClr val="F0F4F8"/>
                    </a:solidFill>
                  </a:tcPr>
                </a:tc>
                <a:tc>
                  <a:txBody>
                    <a:bodyPr/>
                    <a:lstStyle/>
                    <a:p>
                      <a:r>
                        <a:rPr sz="1000" b="0">
                          <a:solidFill>
                            <a:srgbClr val="1A1A1A"/>
                          </a:solidFill>
                          <a:latin typeface="Calibri"/>
                        </a:rPr>
                        <a:t>0.803</a:t>
                      </a:r>
                    </a:p>
                  </a:txBody>
                  <a:tcPr>
                    <a:solidFill>
                      <a:srgbClr val="F0F4F8"/>
                    </a:solidFill>
                  </a:tcPr>
                </a:tc>
                <a:tc>
                  <a:txBody>
                    <a:bodyPr/>
                    <a:lstStyle/>
                    <a:p>
                      <a:r>
                        <a:rPr sz="1000" b="0" dirty="0">
                          <a:solidFill>
                            <a:srgbClr val="1A1A1A"/>
                          </a:solidFill>
                          <a:latin typeface="Calibri"/>
                        </a:rPr>
                        <a:t>L1 + L2</a:t>
                      </a:r>
                    </a:p>
                  </a:txBody>
                  <a:tcPr>
                    <a:solidFill>
                      <a:srgbClr val="F0F4F8"/>
                    </a:solidFill>
                  </a:tcPr>
                </a:tc>
                <a:extLst>
                  <a:ext uri="{0D108BD9-81ED-4DB2-BD59-A6C34878D82A}">
                    <a16:rowId xmlns:a16="http://schemas.microsoft.com/office/drawing/2014/main" val="10006"/>
                  </a:ext>
                </a:extLst>
              </a:tr>
              <a:tr h="420624">
                <a:tc>
                  <a:txBody>
                    <a:bodyPr/>
                    <a:lstStyle/>
                    <a:p>
                      <a:r>
                        <a:rPr sz="1000" b="0">
                          <a:solidFill>
                            <a:srgbClr val="1A1A1A"/>
                          </a:solidFill>
                          <a:latin typeface="Calibri"/>
                        </a:rPr>
                        <a:t>Binary Logistic</a:t>
                      </a:r>
                    </a:p>
                  </a:txBody>
                  <a:tcPr>
                    <a:solidFill>
                      <a:srgbClr val="FFFFFF"/>
                    </a:solidFill>
                  </a:tcPr>
                </a:tc>
                <a:tc>
                  <a:txBody>
                    <a:bodyPr/>
                    <a:lstStyle/>
                    <a:p>
                      <a:r>
                        <a:rPr sz="1000" b="0">
                          <a:solidFill>
                            <a:srgbClr val="1A1A1A"/>
                          </a:solidFill>
                          <a:latin typeface="Calibri"/>
                        </a:rPr>
                        <a:t>Classification</a:t>
                      </a:r>
                    </a:p>
                  </a:txBody>
                  <a:tcPr>
                    <a:solidFill>
                      <a:srgbClr val="FFFFFF"/>
                    </a:solidFill>
                  </a:tcPr>
                </a:tc>
                <a:tc>
                  <a:txBody>
                    <a:bodyPr/>
                    <a:lstStyle/>
                    <a:p>
                      <a:r>
                        <a:rPr sz="1000" b="0">
                          <a:solidFill>
                            <a:srgbClr val="1A1A1A"/>
                          </a:solidFill>
                          <a:latin typeface="Calibri"/>
                        </a:rPr>
                        <a:t>—</a:t>
                      </a:r>
                    </a:p>
                  </a:txBody>
                  <a:tcPr>
                    <a:solidFill>
                      <a:srgbClr val="FFFFFF"/>
                    </a:solidFill>
                  </a:tcPr>
                </a:tc>
                <a:tc>
                  <a:txBody>
                    <a:bodyPr/>
                    <a:lstStyle/>
                    <a:p>
                      <a:r>
                        <a:rPr sz="1000" b="0" dirty="0">
                          <a:solidFill>
                            <a:srgbClr val="1A1A1A"/>
                          </a:solidFill>
                          <a:latin typeface="Calibri"/>
                        </a:rPr>
                        <a:t>Developed vs Developing</a:t>
                      </a:r>
                    </a:p>
                  </a:txBody>
                  <a:tcPr>
                    <a:solidFill>
                      <a:srgbClr val="FFFFFF"/>
                    </a:solidFill>
                  </a:tcPr>
                </a:tc>
                <a:extLst>
                  <a:ext uri="{0D108BD9-81ED-4DB2-BD59-A6C34878D82A}">
                    <a16:rowId xmlns:a16="http://schemas.microsoft.com/office/drawing/2014/main" val="10007"/>
                  </a:ext>
                </a:extLst>
              </a:tr>
              <a:tr h="420624">
                <a:tc>
                  <a:txBody>
                    <a:bodyPr/>
                    <a:lstStyle/>
                    <a:p>
                      <a:r>
                        <a:rPr sz="1000" b="0">
                          <a:solidFill>
                            <a:srgbClr val="1A1A1A"/>
                          </a:solidFill>
                          <a:latin typeface="Calibri"/>
                        </a:rPr>
                        <a:t>Multi-Class Logistic</a:t>
                      </a:r>
                    </a:p>
                  </a:txBody>
                  <a:tcPr>
                    <a:solidFill>
                      <a:srgbClr val="F0F4F8"/>
                    </a:solidFill>
                  </a:tcPr>
                </a:tc>
                <a:tc>
                  <a:txBody>
                    <a:bodyPr/>
                    <a:lstStyle/>
                    <a:p>
                      <a:r>
                        <a:rPr sz="1000" b="0">
                          <a:solidFill>
                            <a:srgbClr val="1A1A1A"/>
                          </a:solidFill>
                          <a:latin typeface="Calibri"/>
                        </a:rPr>
                        <a:t>Classification</a:t>
                      </a:r>
                    </a:p>
                  </a:txBody>
                  <a:tcPr>
                    <a:solidFill>
                      <a:srgbClr val="F0F4F8"/>
                    </a:solidFill>
                  </a:tcPr>
                </a:tc>
                <a:tc>
                  <a:txBody>
                    <a:bodyPr/>
                    <a:lstStyle/>
                    <a:p>
                      <a:r>
                        <a:rPr sz="1000" b="0">
                          <a:solidFill>
                            <a:srgbClr val="1A1A1A"/>
                          </a:solidFill>
                          <a:latin typeface="Calibri"/>
                        </a:rPr>
                        <a:t>—</a:t>
                      </a:r>
                    </a:p>
                  </a:txBody>
                  <a:tcPr>
                    <a:solidFill>
                      <a:srgbClr val="F0F4F8"/>
                    </a:solidFill>
                  </a:tcPr>
                </a:tc>
                <a:tc>
                  <a:txBody>
                    <a:bodyPr/>
                    <a:lstStyle/>
                    <a:p>
                      <a:r>
                        <a:rPr sz="1000" b="0" dirty="0">
                          <a:solidFill>
                            <a:srgbClr val="1A1A1A"/>
                          </a:solidFill>
                          <a:latin typeface="Calibri"/>
                        </a:rPr>
                        <a:t>Low / Medium / High LE</a:t>
                      </a:r>
                    </a:p>
                  </a:txBody>
                  <a:tcPr>
                    <a:solidFill>
                      <a:srgbClr val="F0F4F8"/>
                    </a:solidFill>
                  </a:tcPr>
                </a:tc>
                <a:extLst>
                  <a:ext uri="{0D108BD9-81ED-4DB2-BD59-A6C34878D82A}">
                    <a16:rowId xmlns:a16="http://schemas.microsoft.com/office/drawing/2014/main" val="10008"/>
                  </a:ext>
                </a:extLst>
              </a:tr>
              <a:tr h="420624">
                <a:tc>
                  <a:txBody>
                    <a:bodyPr/>
                    <a:lstStyle/>
                    <a:p>
                      <a:r>
                        <a:rPr sz="1000" b="0">
                          <a:solidFill>
                            <a:srgbClr val="1A1A1A"/>
                          </a:solidFill>
                          <a:latin typeface="Calibri"/>
                        </a:rPr>
                        <a:t>GLM — Logit link</a:t>
                      </a:r>
                    </a:p>
                  </a:txBody>
                  <a:tcPr>
                    <a:solidFill>
                      <a:srgbClr val="FFFFFF"/>
                    </a:solidFill>
                  </a:tcPr>
                </a:tc>
                <a:tc>
                  <a:txBody>
                    <a:bodyPr/>
                    <a:lstStyle/>
                    <a:p>
                      <a:r>
                        <a:rPr sz="1000" b="0">
                          <a:solidFill>
                            <a:srgbClr val="1A1A1A"/>
                          </a:solidFill>
                          <a:latin typeface="Calibri"/>
                        </a:rPr>
                        <a:t>Classification</a:t>
                      </a:r>
                    </a:p>
                  </a:txBody>
                  <a:tcPr>
                    <a:solidFill>
                      <a:srgbClr val="FFFFFF"/>
                    </a:solidFill>
                  </a:tcPr>
                </a:tc>
                <a:tc>
                  <a:txBody>
                    <a:bodyPr/>
                    <a:lstStyle/>
                    <a:p>
                      <a:r>
                        <a:rPr sz="1000" b="0">
                          <a:solidFill>
                            <a:srgbClr val="1A1A1A"/>
                          </a:solidFill>
                          <a:latin typeface="Calibri"/>
                        </a:rPr>
                        <a:t>—</a:t>
                      </a:r>
                    </a:p>
                  </a:txBody>
                  <a:tcPr>
                    <a:solidFill>
                      <a:srgbClr val="FFFFFF"/>
                    </a:solidFill>
                  </a:tcPr>
                </a:tc>
                <a:tc>
                  <a:txBody>
                    <a:bodyPr/>
                    <a:lstStyle/>
                    <a:p>
                      <a:r>
                        <a:rPr sz="1000" b="0" dirty="0">
                          <a:solidFill>
                            <a:srgbClr val="1A1A1A"/>
                          </a:solidFill>
                          <a:latin typeface="Calibri"/>
                        </a:rPr>
                        <a:t>Equivalent to binary logistic</a:t>
                      </a:r>
                    </a:p>
                  </a:txBody>
                  <a:tcPr>
                    <a:solidFill>
                      <a:srgbClr val="FFFFFF"/>
                    </a:solidFill>
                  </a:tcPr>
                </a:tc>
                <a:extLst>
                  <a:ext uri="{0D108BD9-81ED-4DB2-BD59-A6C34878D82A}">
                    <a16:rowId xmlns:a16="http://schemas.microsoft.com/office/drawing/2014/main" val="10009"/>
                  </a:ext>
                </a:extLst>
              </a:tr>
            </a:tbl>
          </a:graphicData>
        </a:graphic>
      </p:graphicFrame>
      <p:sp>
        <p:nvSpPr>
          <p:cNvPr id="6" name="TextBox 5"/>
          <p:cNvSpPr txBox="1"/>
          <p:nvPr/>
        </p:nvSpPr>
        <p:spPr>
          <a:xfrm>
            <a:off x="274320" y="6199632"/>
            <a:ext cx="11704320" cy="253916"/>
          </a:xfrm>
          <a:prstGeom prst="rect">
            <a:avLst/>
          </a:prstGeom>
          <a:noFill/>
        </p:spPr>
        <p:txBody>
          <a:bodyPr wrap="square">
            <a:spAutoFit/>
          </a:bodyPr>
          <a:lstStyle/>
          <a:p>
            <a:pPr algn="l"/>
            <a:r>
              <a:rPr sz="1050" b="0" i="1" dirty="0">
                <a:solidFill>
                  <a:srgbClr val="777777"/>
                </a:solidFill>
                <a:latin typeface="Calibri"/>
              </a:rPr>
              <a:t>Best regression: KNN k = 7 (R² = 0.810) — though MLR is preferred for reporting. </a:t>
            </a:r>
            <a:r>
              <a:rPr sz="1050" b="0" i="1" dirty="0" err="1">
                <a:solidFill>
                  <a:srgbClr val="777777"/>
                </a:solidFill>
                <a:latin typeface="Calibri"/>
              </a:rPr>
              <a:t>Regularisation</a:t>
            </a:r>
            <a:r>
              <a:rPr sz="1050" b="0" i="1" dirty="0">
                <a:solidFill>
                  <a:srgbClr val="777777"/>
                </a:solidFill>
                <a:latin typeface="Calibri"/>
              </a:rPr>
              <a:t> adds marginal value — OLS was already stable.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9F8F5"/>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461665"/>
          </a:xfrm>
          <a:prstGeom prst="rect">
            <a:avLst/>
          </a:prstGeom>
          <a:noFill/>
        </p:spPr>
        <p:txBody>
          <a:bodyPr wrap="square">
            <a:spAutoFit/>
          </a:bodyPr>
          <a:lstStyle/>
          <a:p>
            <a:pPr algn="l"/>
            <a:r>
              <a:rPr sz="2400" b="1" i="0" u="sng" dirty="0">
                <a:solidFill>
                  <a:srgbClr val="1C2E4A"/>
                </a:solidFill>
                <a:latin typeface="Georgia"/>
              </a:rPr>
              <a:t>Key Findings</a:t>
            </a:r>
          </a:p>
        </p:txBody>
      </p:sp>
      <p:sp>
        <p:nvSpPr>
          <p:cNvPr id="5" name="TextBox 4"/>
          <p:cNvSpPr txBox="1"/>
          <p:nvPr/>
        </p:nvSpPr>
        <p:spPr>
          <a:xfrm>
            <a:off x="658368" y="1298448"/>
            <a:ext cx="5577840" cy="329184"/>
          </a:xfrm>
          <a:prstGeom prst="rect">
            <a:avLst/>
          </a:prstGeom>
          <a:noFill/>
        </p:spPr>
        <p:txBody>
          <a:bodyPr wrap="square">
            <a:spAutoFit/>
          </a:bodyPr>
          <a:lstStyle/>
          <a:p>
            <a:pPr algn="l"/>
            <a:r>
              <a:rPr sz="1200" b="1" i="0">
                <a:solidFill>
                  <a:srgbClr val="1C2E4A"/>
                </a:solidFill>
                <a:latin typeface="Calibri"/>
              </a:rPr>
              <a:t>Education is the strongest positive driver</a:t>
            </a:r>
          </a:p>
        </p:txBody>
      </p:sp>
      <p:sp>
        <p:nvSpPr>
          <p:cNvPr id="6" name="TextBox 5"/>
          <p:cNvSpPr txBox="1"/>
          <p:nvPr/>
        </p:nvSpPr>
        <p:spPr>
          <a:xfrm>
            <a:off x="658368" y="1664207"/>
            <a:ext cx="5577840" cy="1417320"/>
          </a:xfrm>
          <a:prstGeom prst="rect">
            <a:avLst/>
          </a:prstGeom>
          <a:noFill/>
        </p:spPr>
        <p:txBody>
          <a:bodyPr wrap="square">
            <a:spAutoFit/>
          </a:bodyPr>
          <a:lstStyle/>
          <a:p>
            <a:pPr algn="l"/>
            <a:r>
              <a:rPr sz="1050" b="0" i="0">
                <a:solidFill>
                  <a:srgbClr val="1A1A1A"/>
                </a:solidFill>
                <a:latin typeface="Calibri"/>
              </a:rPr>
              <a:t>Schooling correlates at r = 0.75 — the highest of any single variable. Each additional year is associated with roughly 2.2 more years of life after controlling for other factors. Education likely proxies access to healthcare information, higher income, and better nutrition simultaneously.</a:t>
            </a:r>
          </a:p>
        </p:txBody>
      </p:sp>
      <p:sp>
        <p:nvSpPr>
          <p:cNvPr id="11" name="TextBox 10"/>
          <p:cNvSpPr txBox="1"/>
          <p:nvPr/>
        </p:nvSpPr>
        <p:spPr>
          <a:xfrm>
            <a:off x="658368" y="3200400"/>
            <a:ext cx="5577840" cy="329184"/>
          </a:xfrm>
          <a:prstGeom prst="rect">
            <a:avLst/>
          </a:prstGeom>
          <a:noFill/>
        </p:spPr>
        <p:txBody>
          <a:bodyPr wrap="square">
            <a:spAutoFit/>
          </a:bodyPr>
          <a:lstStyle/>
          <a:p>
            <a:pPr algn="l"/>
            <a:r>
              <a:rPr sz="1200" b="1" i="0">
                <a:solidFill>
                  <a:srgbClr val="1C2E4A"/>
                </a:solidFill>
                <a:latin typeface="Calibri"/>
              </a:rPr>
              <a:t>Vaccination rates carry a clear signal</a:t>
            </a:r>
          </a:p>
        </p:txBody>
      </p:sp>
      <p:sp>
        <p:nvSpPr>
          <p:cNvPr id="12" name="TextBox 11"/>
          <p:cNvSpPr txBox="1"/>
          <p:nvPr/>
        </p:nvSpPr>
        <p:spPr>
          <a:xfrm>
            <a:off x="658368" y="3566160"/>
            <a:ext cx="5577840" cy="1417320"/>
          </a:xfrm>
          <a:prstGeom prst="rect">
            <a:avLst/>
          </a:prstGeom>
          <a:noFill/>
        </p:spPr>
        <p:txBody>
          <a:bodyPr wrap="square">
            <a:spAutoFit/>
          </a:bodyPr>
          <a:lstStyle/>
          <a:p>
            <a:pPr algn="l"/>
            <a:r>
              <a:rPr sz="1050" b="0" i="0">
                <a:solidFill>
                  <a:srgbClr val="1A1A1A"/>
                </a:solidFill>
                <a:latin typeface="Calibri"/>
              </a:rPr>
              <a:t>Polio and Diphtheria rates correlate at r ≈ 0.47–0.48. Developed countries average over 90 % coverage. Unlike many predictors here, vaccination is a direct policy lever — this association is one of the more actionable findings in the dataset.</a:t>
            </a:r>
          </a:p>
        </p:txBody>
      </p:sp>
      <p:sp>
        <p:nvSpPr>
          <p:cNvPr id="14" name="TextBox 13"/>
          <p:cNvSpPr txBox="1"/>
          <p:nvPr/>
        </p:nvSpPr>
        <p:spPr>
          <a:xfrm>
            <a:off x="6501384" y="2048599"/>
            <a:ext cx="5577840" cy="329184"/>
          </a:xfrm>
          <a:prstGeom prst="rect">
            <a:avLst/>
          </a:prstGeom>
          <a:noFill/>
        </p:spPr>
        <p:txBody>
          <a:bodyPr wrap="square">
            <a:spAutoFit/>
          </a:bodyPr>
          <a:lstStyle/>
          <a:p>
            <a:pPr algn="l"/>
            <a:r>
              <a:rPr sz="1200" b="1" i="0" dirty="0">
                <a:solidFill>
                  <a:srgbClr val="1C2E4A"/>
                </a:solidFill>
                <a:latin typeface="Calibri"/>
              </a:rPr>
              <a:t>The development gap is classifiable</a:t>
            </a:r>
          </a:p>
        </p:txBody>
      </p:sp>
      <p:sp>
        <p:nvSpPr>
          <p:cNvPr id="15" name="TextBox 14"/>
          <p:cNvSpPr txBox="1"/>
          <p:nvPr/>
        </p:nvSpPr>
        <p:spPr>
          <a:xfrm>
            <a:off x="6501384" y="2491740"/>
            <a:ext cx="5577840" cy="1417320"/>
          </a:xfrm>
          <a:prstGeom prst="rect">
            <a:avLst/>
          </a:prstGeom>
          <a:noFill/>
        </p:spPr>
        <p:txBody>
          <a:bodyPr wrap="square">
            <a:spAutoFit/>
          </a:bodyPr>
          <a:lstStyle/>
          <a:p>
            <a:pPr algn="l"/>
            <a:r>
              <a:rPr sz="1050" b="0" i="0" dirty="0">
                <a:solidFill>
                  <a:srgbClr val="1A1A1A"/>
                </a:solidFill>
                <a:latin typeface="Calibri"/>
              </a:rPr>
              <a:t>Binary logistic achieves 90.6 % accuracy predicting Developed vs Developing from health and economic variables alone. The gap is not just a label — it is embedded throughout every feature in the dataset.</a:t>
            </a:r>
          </a:p>
        </p:txBody>
      </p:sp>
      <p:sp>
        <p:nvSpPr>
          <p:cNvPr id="17" name="TextBox 16"/>
          <p:cNvSpPr txBox="1"/>
          <p:nvPr/>
        </p:nvSpPr>
        <p:spPr>
          <a:xfrm>
            <a:off x="6501384" y="4274820"/>
            <a:ext cx="5577840" cy="329184"/>
          </a:xfrm>
          <a:prstGeom prst="rect">
            <a:avLst/>
          </a:prstGeom>
          <a:noFill/>
        </p:spPr>
        <p:txBody>
          <a:bodyPr wrap="square">
            <a:spAutoFit/>
          </a:bodyPr>
          <a:lstStyle/>
          <a:p>
            <a:pPr algn="l"/>
            <a:r>
              <a:rPr sz="1200" b="1" i="0" dirty="0" err="1">
                <a:solidFill>
                  <a:srgbClr val="1C2E4A"/>
                </a:solidFill>
                <a:latin typeface="Calibri"/>
              </a:rPr>
              <a:t>Regularisation</a:t>
            </a:r>
            <a:r>
              <a:rPr sz="1200" b="1" i="0" dirty="0">
                <a:solidFill>
                  <a:srgbClr val="1C2E4A"/>
                </a:solidFill>
                <a:latin typeface="Calibri"/>
              </a:rPr>
              <a:t> confirms model stability</a:t>
            </a:r>
          </a:p>
        </p:txBody>
      </p:sp>
      <p:sp>
        <p:nvSpPr>
          <p:cNvPr id="18" name="TextBox 17"/>
          <p:cNvSpPr txBox="1"/>
          <p:nvPr/>
        </p:nvSpPr>
        <p:spPr>
          <a:xfrm>
            <a:off x="6430085" y="4864608"/>
            <a:ext cx="5577840" cy="1417320"/>
          </a:xfrm>
          <a:prstGeom prst="rect">
            <a:avLst/>
          </a:prstGeom>
          <a:noFill/>
        </p:spPr>
        <p:txBody>
          <a:bodyPr wrap="square">
            <a:spAutoFit/>
          </a:bodyPr>
          <a:lstStyle/>
          <a:p>
            <a:pPr algn="l"/>
            <a:r>
              <a:rPr sz="1050" b="0" i="0">
                <a:solidFill>
                  <a:srgbClr val="1A1A1A"/>
                </a:solidFill>
                <a:latin typeface="Calibri"/>
              </a:rPr>
              <a:t>Ridge, LASSO and ElasticNet all give R² ≈ 0.80–0.803. The marginal improvement over OLS is negligible. This means the original OLS solution was not overfitting, and the predictors selected by stepwise are genuinely informative.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C2E4A"/>
        </a:solidFill>
        <a:effectLst/>
      </p:bgPr>
    </p:bg>
    <p:spTree>
      <p:nvGrpSpPr>
        <p:cNvPr id="1" name=""/>
        <p:cNvGrpSpPr/>
        <p:nvPr/>
      </p:nvGrpSpPr>
      <p:grpSpPr>
        <a:xfrm>
          <a:off x="0" y="0"/>
          <a:ext cx="0" cy="0"/>
          <a:chOff x="0" y="0"/>
          <a:chExt cx="0" cy="0"/>
        </a:xfrm>
      </p:grpSpPr>
      <p:sp>
        <p:nvSpPr>
          <p:cNvPr id="2" name="TextBox 1"/>
          <p:cNvSpPr txBox="1"/>
          <p:nvPr/>
        </p:nvSpPr>
        <p:spPr>
          <a:xfrm>
            <a:off x="548640" y="2011680"/>
            <a:ext cx="10058400" cy="1371600"/>
          </a:xfrm>
          <a:prstGeom prst="rect">
            <a:avLst/>
          </a:prstGeom>
          <a:noFill/>
        </p:spPr>
        <p:txBody>
          <a:bodyPr wrap="square">
            <a:spAutoFit/>
          </a:bodyPr>
          <a:lstStyle/>
          <a:p>
            <a:pPr algn="l"/>
            <a:r>
              <a:rPr sz="5800" b="1" i="0">
                <a:solidFill>
                  <a:srgbClr val="FFFFFF"/>
                </a:solidFill>
                <a:latin typeface="Georgia"/>
              </a:rPr>
              <a:t>Thank you</a:t>
            </a:r>
          </a:p>
        </p:txBody>
      </p:sp>
      <p:sp>
        <p:nvSpPr>
          <p:cNvPr id="4" name="TextBox 3"/>
          <p:cNvSpPr txBox="1"/>
          <p:nvPr/>
        </p:nvSpPr>
        <p:spPr>
          <a:xfrm>
            <a:off x="548640" y="3840480"/>
            <a:ext cx="10058400" cy="411480"/>
          </a:xfrm>
          <a:prstGeom prst="rect">
            <a:avLst/>
          </a:prstGeom>
          <a:noFill/>
        </p:spPr>
        <p:txBody>
          <a:bodyPr wrap="square">
            <a:spAutoFit/>
          </a:bodyPr>
          <a:lstStyle/>
          <a:p>
            <a:pPr algn="l"/>
            <a:r>
              <a:rPr sz="1500" b="0" i="1">
                <a:solidFill>
                  <a:srgbClr val="88A8C8"/>
                </a:solidFill>
                <a:latin typeface="Calibri"/>
              </a:rPr>
              <a:t>Predictive Analysis  —  Life Expectancy Project</a:t>
            </a:r>
          </a:p>
        </p:txBody>
      </p:sp>
      <p:sp>
        <p:nvSpPr>
          <p:cNvPr id="5" name="TextBox 4"/>
          <p:cNvSpPr txBox="1"/>
          <p:nvPr/>
        </p:nvSpPr>
        <p:spPr>
          <a:xfrm>
            <a:off x="548640" y="4434840"/>
            <a:ext cx="10058400" cy="461665"/>
          </a:xfrm>
          <a:prstGeom prst="rect">
            <a:avLst/>
          </a:prstGeom>
          <a:noFill/>
        </p:spPr>
        <p:txBody>
          <a:bodyPr wrap="square">
            <a:spAutoFit/>
          </a:bodyPr>
          <a:lstStyle/>
          <a:p>
            <a:pPr algn="l"/>
            <a:r>
              <a:rPr sz="1200" b="0" i="0" dirty="0">
                <a:solidFill>
                  <a:srgbClr val="6688AA"/>
                </a:solidFill>
                <a:latin typeface="Calibri"/>
              </a:rPr>
              <a:t>WHO Global Health Observatory   ·   193 countries   ·   2000–2015
Methods: OLS  ·  KNN  ·  Logistic Regression  ·  Ridge  ·  LASSO  ·  Elastic</a:t>
            </a:r>
            <a:r>
              <a:rPr lang="en-IN" sz="1200" b="0" i="0" dirty="0">
                <a:solidFill>
                  <a:srgbClr val="6688AA"/>
                </a:solidFill>
                <a:latin typeface="Calibri"/>
              </a:rPr>
              <a:t> </a:t>
            </a:r>
            <a:r>
              <a:rPr sz="1200" b="0" i="0" dirty="0">
                <a:solidFill>
                  <a:srgbClr val="6688AA"/>
                </a:solidFill>
                <a:latin typeface="Calibri"/>
              </a:rPr>
              <a:t>Net  ·  GLM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53</TotalTime>
  <Words>1846</Words>
  <Application>Microsoft Office PowerPoint</Application>
  <PresentationFormat>Custom</PresentationFormat>
  <Paragraphs>168</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Srinjana Sen</cp:lastModifiedBy>
  <cp:revision>3</cp:revision>
  <dcterms:created xsi:type="dcterms:W3CDTF">2013-01-27T09:14:16Z</dcterms:created>
  <dcterms:modified xsi:type="dcterms:W3CDTF">2026-05-08T18:11:12Z</dcterms:modified>
  <cp:category/>
</cp:coreProperties>
</file>